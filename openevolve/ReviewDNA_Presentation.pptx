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combined_score</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62C1-4B5F-9785-EAF23FCC9097}"/>
              </c:ext>
            </c:extLst>
          </c:dPt>
          <c:dPt>
            <c:idx val="1"/>
            <c:invertIfNegative val="0"/>
            <c:bubble3D val="0"/>
            <c:spPr>
              <a:solidFill>
                <a:srgbClr val="0EA5E9"/>
              </a:solidFill>
              <a:effectLst/>
            </c:spPr>
            <c:extLst>
              <c:ext xmlns:c16="http://schemas.microsoft.com/office/drawing/2014/chart" uri="{C3380CC4-5D6E-409C-BE32-E72D297353CC}">
                <c16:uniqueId val="{00000003-62C1-4B5F-9785-EAF23FCC9097}"/>
              </c:ext>
            </c:extLst>
          </c:dPt>
          <c:dPt>
            <c:idx val="2"/>
            <c:invertIfNegative val="0"/>
            <c:bubble3D val="0"/>
            <c:spPr>
              <a:solidFill>
                <a:srgbClr val="0EA5E9"/>
              </a:solidFill>
              <a:effectLst/>
            </c:spPr>
            <c:extLst>
              <c:ext xmlns:c16="http://schemas.microsoft.com/office/drawing/2014/chart" uri="{C3380CC4-5D6E-409C-BE32-E72D297353CC}">
                <c16:uniqueId val="{00000005-62C1-4B5F-9785-EAF23FCC9097}"/>
              </c:ext>
            </c:extLst>
          </c:dPt>
          <c:dPt>
            <c:idx val="3"/>
            <c:invertIfNegative val="0"/>
            <c:bubble3D val="0"/>
            <c:spPr>
              <a:solidFill>
                <a:srgbClr val="0EA5E9"/>
              </a:solidFill>
              <a:effectLst/>
            </c:spPr>
            <c:extLst>
              <c:ext xmlns:c16="http://schemas.microsoft.com/office/drawing/2014/chart" uri="{C3380CC4-5D6E-409C-BE32-E72D297353CC}">
                <c16:uniqueId val="{00000007-62C1-4B5F-9785-EAF23FCC9097}"/>
              </c:ext>
            </c:extLst>
          </c:dPt>
          <c:dPt>
            <c:idx val="4"/>
            <c:invertIfNegative val="0"/>
            <c:bubble3D val="0"/>
            <c:spPr>
              <a:solidFill>
                <a:srgbClr val="D97706"/>
              </a:solidFill>
              <a:effectLst/>
            </c:spPr>
            <c:extLst>
              <c:ext xmlns:c16="http://schemas.microsoft.com/office/drawing/2014/chart" uri="{C3380CC4-5D6E-409C-BE32-E72D297353CC}">
                <c16:uniqueId val="{00000009-62C1-4B5F-9785-EAF23FCC9097}"/>
              </c:ext>
            </c:extLst>
          </c:dPt>
          <c:dPt>
            <c:idx val="5"/>
            <c:invertIfNegative val="0"/>
            <c:bubble3D val="0"/>
            <c:spPr>
              <a:solidFill>
                <a:srgbClr val="DC2626"/>
              </a:solidFill>
              <a:effectLst/>
            </c:spPr>
            <c:extLst>
              <c:ext xmlns:c16="http://schemas.microsoft.com/office/drawing/2014/chart" uri="{C3380CC4-5D6E-409C-BE32-E72D297353CC}">
                <c16:uniqueId val="{0000000B-62C1-4B5F-9785-EAF23FCC9097}"/>
              </c:ext>
            </c:extLst>
          </c:dPt>
          <c:dPt>
            <c:idx val="6"/>
            <c:invertIfNegative val="0"/>
            <c:bubble3D val="0"/>
            <c:spPr>
              <a:solidFill>
                <a:srgbClr val="059669"/>
              </a:solidFill>
              <a:effectLst/>
            </c:spPr>
            <c:extLst>
              <c:ext xmlns:c16="http://schemas.microsoft.com/office/drawing/2014/chart" uri="{C3380CC4-5D6E-409C-BE32-E72D297353CC}">
                <c16:uniqueId val="{0000000D-62C1-4B5F-9785-EAF23FCC9097}"/>
              </c:ext>
            </c:extLst>
          </c:dPt>
          <c:dPt>
            <c:idx val="7"/>
            <c:invertIfNegative val="0"/>
            <c:bubble3D val="0"/>
            <c:spPr>
              <a:solidFill>
                <a:srgbClr val="059669"/>
              </a:solidFill>
              <a:effectLst/>
            </c:spPr>
            <c:extLst>
              <c:ext xmlns:c16="http://schemas.microsoft.com/office/drawing/2014/chart" uri="{C3380CC4-5D6E-409C-BE32-E72D297353CC}">
                <c16:uniqueId val="{0000000F-62C1-4B5F-9785-EAF23FCC9097}"/>
              </c:ext>
            </c:extLst>
          </c:dPt>
          <c:dPt>
            <c:idx val="8"/>
            <c:invertIfNegative val="0"/>
            <c:bubble3D val="0"/>
            <c:spPr>
              <a:solidFill>
                <a:srgbClr val="EF4444"/>
              </a:solidFill>
              <a:effectLst/>
            </c:spPr>
            <c:extLst>
              <c:ext xmlns:c16="http://schemas.microsoft.com/office/drawing/2014/chart" uri="{C3380CC4-5D6E-409C-BE32-E72D297353CC}">
                <c16:uniqueId val="{00000011-62C1-4B5F-9785-EAF23FCC9097}"/>
              </c:ext>
            </c:extLst>
          </c:dPt>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Gen0
(seed)</c:v>
                </c:pt>
                <c:pt idx="1">
                  <c:v>Gen1
#1 best</c:v>
                </c:pt>
                <c:pt idx="2">
                  <c:v>Gen1
#2</c:v>
                </c:pt>
                <c:pt idx="3">
                  <c:v>Gen1
#3</c:v>
                </c:pt>
                <c:pt idx="4">
                  <c:v>Gen2
avg</c:v>
                </c:pt>
                <c:pt idx="5">
                  <c:v>Gen3
worst</c:v>
                </c:pt>
                <c:pt idx="6">
                  <c:v>Gen4
BEST</c:v>
                </c:pt>
                <c:pt idx="7">
                  <c:v>Gen4
Island0</c:v>
                </c:pt>
                <c:pt idx="8">
                  <c:v>Gen4
failure</c:v>
                </c:pt>
              </c:strCache>
            </c:strRef>
          </c:cat>
          <c:val>
            <c:numRef>
              <c:f>Sheet1!$B$2:$B$10</c:f>
              <c:numCache>
                <c:formatCode>General</c:formatCode>
                <c:ptCount val="9"/>
                <c:pt idx="0">
                  <c:v>0.86140000000000005</c:v>
                </c:pt>
                <c:pt idx="1">
                  <c:v>0.8931</c:v>
                </c:pt>
                <c:pt idx="2">
                  <c:v>0.88900000000000001</c:v>
                </c:pt>
                <c:pt idx="3">
                  <c:v>0.88790000000000002</c:v>
                </c:pt>
                <c:pt idx="4">
                  <c:v>0.87</c:v>
                </c:pt>
                <c:pt idx="5">
                  <c:v>0.8327</c:v>
                </c:pt>
                <c:pt idx="6">
                  <c:v>0.91279999999999994</c:v>
                </c:pt>
                <c:pt idx="7">
                  <c:v>0.89880000000000004</c:v>
                </c:pt>
                <c:pt idx="8">
                  <c:v>0.27629999999999999</c:v>
                </c:pt>
              </c:numCache>
            </c:numRef>
          </c:val>
          <c:extLst>
            <c:ext xmlns:c16="http://schemas.microsoft.com/office/drawing/2014/chart" uri="{C3380CC4-5D6E-409C-BE32-E72D297353CC}">
              <c16:uniqueId val="{00000012-62C1-4B5F-9785-EAF23FCC909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combined_score</c:v>
                </c:pt>
              </c:strCache>
            </c:strRef>
          </c:tx>
          <c:spPr>
            <a:solidFill>
              <a:srgbClr val="64748B"/>
            </a:solidFill>
            <a:effectLst/>
          </c:spPr>
          <c:invertIfNegative val="0"/>
          <c:dPt>
            <c:idx val="0"/>
            <c:invertIfNegative val="0"/>
            <c:bubble3D val="0"/>
            <c:extLst>
              <c:ext xmlns:c16="http://schemas.microsoft.com/office/drawing/2014/chart" uri="{C3380CC4-5D6E-409C-BE32-E72D297353CC}">
                <c16:uniqueId val="{00000001-4EC1-476C-804A-A7EA9E519280}"/>
              </c:ext>
            </c:extLst>
          </c:dPt>
          <c:dPt>
            <c:idx val="1"/>
            <c:invertIfNegative val="0"/>
            <c:bubble3D val="0"/>
            <c:spPr>
              <a:solidFill>
                <a:srgbClr val="0EA5E9"/>
              </a:solidFill>
              <a:effectLst/>
            </c:spPr>
            <c:extLst>
              <c:ext xmlns:c16="http://schemas.microsoft.com/office/drawing/2014/chart" uri="{C3380CC4-5D6E-409C-BE32-E72D297353CC}">
                <c16:uniqueId val="{00000003-4EC1-476C-804A-A7EA9E519280}"/>
              </c:ext>
            </c:extLst>
          </c:dPt>
          <c:dPt>
            <c:idx val="2"/>
            <c:invertIfNegative val="0"/>
            <c:bubble3D val="0"/>
            <c:spPr>
              <a:solidFill>
                <a:srgbClr val="DC2626"/>
              </a:solidFill>
              <a:effectLst/>
            </c:spPr>
            <c:extLst>
              <c:ext xmlns:c16="http://schemas.microsoft.com/office/drawing/2014/chart" uri="{C3380CC4-5D6E-409C-BE32-E72D297353CC}">
                <c16:uniqueId val="{00000005-4EC1-476C-804A-A7EA9E519280}"/>
              </c:ext>
            </c:extLst>
          </c:dPt>
          <c:dPt>
            <c:idx val="3"/>
            <c:invertIfNegative val="0"/>
            <c:bubble3D val="0"/>
            <c:spPr>
              <a:solidFill>
                <a:srgbClr val="059669"/>
              </a:solidFill>
              <a:effectLst/>
            </c:spPr>
            <c:extLst>
              <c:ext xmlns:c16="http://schemas.microsoft.com/office/drawing/2014/chart" uri="{C3380CC4-5D6E-409C-BE32-E72D297353CC}">
                <c16:uniqueId val="{00000007-4EC1-476C-804A-A7EA9E519280}"/>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Gen 0
(hand-designed)</c:v>
                </c:pt>
                <c:pt idx="1">
                  <c:v>Gen 1
(expanded)</c:v>
                </c:pt>
                <c:pt idx="2">
                  <c:v>Gen 3
(overfit)</c:v>
                </c:pt>
                <c:pt idx="3">
                  <c:v>Gen 4
(BEST)</c:v>
                </c:pt>
              </c:strCache>
            </c:strRef>
          </c:cat>
          <c:val>
            <c:numRef>
              <c:f>Sheet1!$B$2:$B$5</c:f>
              <c:numCache>
                <c:formatCode>General</c:formatCode>
                <c:ptCount val="4"/>
                <c:pt idx="0">
                  <c:v>0.86140000000000005</c:v>
                </c:pt>
                <c:pt idx="1">
                  <c:v>0.8931</c:v>
                </c:pt>
                <c:pt idx="2">
                  <c:v>0.8327</c:v>
                </c:pt>
                <c:pt idx="3">
                  <c:v>0.91279999999999994</c:v>
                </c:pt>
              </c:numCache>
            </c:numRef>
          </c:val>
          <c:extLst>
            <c:ext xmlns:c16="http://schemas.microsoft.com/office/drawing/2014/chart" uri="{C3380CC4-5D6E-409C-BE32-E72D297353CC}">
              <c16:uniqueId val="{00000008-4EC1-476C-804A-A7EA9E51928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0.95"/>
          <c:min val="0.7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103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multi-agent AI crew that predicts Yelp star ratings and generates realistic review text. Used OpenEvolve (FunSearch paradigm) to automatically improve the behavioral taxonomy driving predictions. Final score 0.9128, +5.14% over the hand-designed baseline.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motivating example: user PZ47ZU2aXZNd9SKm-Ua7JA had zero profile data, but rated Anthony's Coal Fired Pizza 5 stars. A naive average gives ~4.3. The real prediction challenge is behavioral: can we figure out that a military person who lived in Italy craving authentic pizza would love a coal-fired place? Our dual-axis system handles this via the ITEM QUALITY VERDICT: the business is rated EXCELLENT (79.9% positive reviews), which maps to a prediction of 4.5-5.0.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steps of our goal. Steps 1-3 are the standard pipeline. Step 4 is the key innovation: rather than leaving the taxonomy static, we let OpenEvolve evolve it automatically. The 'policy' (the taxonomy, thresholds, and cases) is what gets optimized.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 clarification: We did NOT use Google DeepMind's proprietary FunSearch code. FunSearch is just the academic paper that inspired this field. We used OpenEvolve, an open-source tool that implements a similar evolutionary LLM search process. The mapping table shows how the abstract concepts of evolutionary search map directly to concrete elements in our project. The formula f* = argmax S(f) simply means: find the taxonomy that maximizes the simulation evaluation score.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Three-layer architecture. OpenEvolve is the outer shell that drives evolution. The CrewAI system is the middle layer that executes each mutated config. The simulator is the bottom layer that scores the result. The key flow: OpenEvolve mutates the YAML → crew runs → simulator scores → score feeds back to OpenEvolve. We run parallel_evaluations=1 (serial) because the crew has a shared 5 RPM rate limit.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innovation. Most systems just predict the average. We encode behavioral logic as a structured taxonomy — essentially a small expert system written in natural language. OpenEvolve then searches for the best version of this expert system. The dual-axis approach (classify both user AND business) allows graceful handling of cold-start cases: if user data is missing, fall back to item quality verdict only.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0: 4 user types, 5 item types, 3 prediction cases. Very simple. Score: 0.8614. This becomes the starting point f₀ in the FunSearch formulation. OpenEvolve's task is to find f* — the version of this taxonomy that maximizes the combined_score.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trajectory: starts at 0.8614 (Gen 0), peaks at 0.8931 (Gen 1), dips in Gen 3 due to overfitting (0.8327), then reaches the all-time best of 0.9128 in Gen 4 iteration 48. There were 6 catastrophic failures at 0.2763 caused by the LLM writing prose analysis before the YAML content (invalid format). Note the 'valley' in Gen 3 — this is where the complexity trap happened.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1 was the most impactful generation. Three simultaneous changes: (1) user taxonomy grew from 4 to 8 types with explicit DNA parameters, (2) item taxonomy grew from 5 to 8 types covering more edge cases, (3) a completely new Cognitive Bias Calibration layer was added with named psychological biases. The 6-step Prediction Heuristic converted implicit reasoning into a deterministic algorithm. This is the key finding: explicit procedural algorithms outperform vague reasoning prompts.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Gens 2-3 show the complexity trap: the LLM kept adding more types and cases, but performance did not improve and actually got worse. The worst valid program (9e97cc6b) had 9 user types, 10 item types, and 18 prediction cases - and scored 0.8327, worse than Gen 1 with 8/8/10. The issue: with only 1 evaluation task, rare cases (NOVICE_REVIEWER + NEW_ARRIVAL) were never triggered, so the extra rules just added noise to the LLM's reasoning.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catastrophic failures are the most analytically interesting finding. The LLM mutator began doing meta-reasoning — reading past scores and forming a correct strategy (simplify). But it output that analysis as prose before the YAML, breaking the parser. preference_estimation=0.0 because the crew couldn't load the config. review_generation=0.5526 (a random baseline score). Combined: 0.2763. This happened independently in Islands 0, 1, and 2 — emergent behavior from the FunSearch-style search process. The fix is trivially easy.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program (0.9128) came from the worst valid parent (0.8327). This is only possible because MAP-Elites preserves diverse programs even when their scores are lower — it kept the complex program because it occupied a unique cell in the diversity map. When sampled as a parent, the LLM applied a radical simplification strategy. Two new archetypes were invented: RECENCY_BOOSTER (user whose generosity increases over time) and EMERGING_TREND (business currently being discovered). The DNA format switched from numeric weights to capability descriptions.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islands evolved in parallel. Island 0 found a clean 5-type taxonomy (PRECISION-CALIBRATED). Island 1 added 2 new archetypes (RECENCY_CRITIC, SERIAL_LOYALIST). Island 2 explored the most extreme range — it produced both the most complex program (0.8327) AND the best program (0.9128). The island model allowed this: even though Island 2's average (0.7705) was lowest, its best was the global best. Without islands, the search might have converged to Island 0's local optimum of 0.8988.</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things OpenEvolve discovered: (1) capability-based DNA descriptions work better than numeric values for LLM execution, (2) there's a complexity sweet spot around 6 types and 12 cases, (3) the LLM does emergent meta-reasoning about evolution history but can fail on output format, (4) MAP-Elites diversity allows the best to come from the worst parent, (5) the cold-start item-only fallback works very effectively.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results: combined_score = 0.9128. preference_estimation = 0.9 means our star rating prediction was off by 0.5 stars (we predicted 4.5, truth was 5.0). review_generation = 0.9256 means our generated review matched the real review closely in sentiment, emotion, and topic. Note: single-task evaluation means there is some variance from LLM stochasticity. The consistent improvement across multiple top programs (5 programs scored above 0.89) suggests genuine improvement rather than luck.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slide. Three takeaways: What we built (the CrewAI crew with evolvable policy), What OpenEvolve found (5 key discoveries), and Why this matters (applying FunSearch paradigm to agent design). Emphasize that the approach is both higher-performance AND interpretable — we can explain every decision the evolved system makes. Thank the professor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640080"/>
            <a:ext cx="8046720" cy="1097280"/>
          </a:xfrm>
          <a:prstGeom prst="rect">
            <a:avLst/>
          </a:prstGeom>
          <a:noFill/>
          <a:ln/>
        </p:spPr>
        <p:txBody>
          <a:bodyPr wrap="square"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Review DNA</a:t>
            </a:r>
            <a:endParaRPr lang="en-US" sz="5400" dirty="0"/>
          </a:p>
        </p:txBody>
      </p:sp>
      <p:sp>
        <p:nvSpPr>
          <p:cNvPr id="3" name="Text 1"/>
          <p:cNvSpPr/>
          <p:nvPr/>
        </p:nvSpPr>
        <p:spPr>
          <a:xfrm>
            <a:off x="548640" y="1737360"/>
            <a:ext cx="7772400" cy="1005840"/>
          </a:xfrm>
          <a:prstGeom prst="rect">
            <a:avLst/>
          </a:prstGeom>
          <a:noFill/>
          <a:ln/>
        </p:spPr>
        <p:txBody>
          <a:bodyPr wrap="square" rtlCol="0" anchor="ctr"/>
          <a:lstStyle/>
          <a:p>
            <a:pPr marL="0" indent="0">
              <a:buNone/>
            </a:pPr>
            <a:r>
              <a:rPr lang="en-US" sz="2100" dirty="0">
                <a:solidFill>
                  <a:srgbClr val="CADCFC"/>
                </a:solidFill>
                <a:latin typeface="Calibri" pitchFamily="34" charset="0"/>
                <a:ea typeface="Calibri" pitchFamily="34" charset="-122"/>
                <a:cs typeface="Calibri" pitchFamily="34" charset="-120"/>
              </a:rPr>
              <a:t>Evolving a Dual-Axis Behavioral Taxonomy</a:t>
            </a:r>
            <a:endParaRPr lang="en-US" sz="2100" dirty="0"/>
          </a:p>
          <a:p>
            <a:pPr marL="0" indent="0">
              <a:buNone/>
            </a:pPr>
            <a:r>
              <a:rPr lang="en-US" sz="2100" dirty="0">
                <a:solidFill>
                  <a:srgbClr val="CADCFC"/>
                </a:solidFill>
                <a:latin typeface="Calibri" pitchFamily="34" charset="0"/>
                <a:ea typeface="Calibri" pitchFamily="34" charset="-122"/>
                <a:cs typeface="Calibri" pitchFamily="34" charset="-120"/>
              </a:rPr>
              <a:t>for Yelp Review Simulation</a:t>
            </a:r>
            <a:endParaRPr lang="en-US" sz="2100" dirty="0"/>
          </a:p>
        </p:txBody>
      </p:sp>
      <p:sp>
        <p:nvSpPr>
          <p:cNvPr id="4" name="Shape 2"/>
          <p:cNvSpPr/>
          <p:nvPr/>
        </p:nvSpPr>
        <p:spPr>
          <a:xfrm>
            <a:off x="548640" y="2834640"/>
            <a:ext cx="3840480" cy="36576"/>
          </a:xfrm>
          <a:prstGeom prst="rect">
            <a:avLst/>
          </a:prstGeom>
          <a:solidFill>
            <a:srgbClr val="0EA5E9"/>
          </a:solidFill>
          <a:ln w="12700">
            <a:solidFill>
              <a:srgbClr val="0EA5E9"/>
            </a:solidFill>
            <a:prstDash val="solid"/>
          </a:ln>
        </p:spPr>
        <p:txBody>
          <a:bodyPr/>
          <a:lstStyle/>
          <a:p>
            <a:endParaRPr lang="en-US"/>
          </a:p>
        </p:txBody>
      </p:sp>
      <p:sp>
        <p:nvSpPr>
          <p:cNvPr id="5" name="Text 3"/>
          <p:cNvSpPr/>
          <p:nvPr/>
        </p:nvSpPr>
        <p:spPr>
          <a:xfrm>
            <a:off x="548640" y="2999232"/>
            <a:ext cx="7772400" cy="347472"/>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LLM &amp; APP Final Project  |  NDHU Spring 2026</a:t>
            </a:r>
            <a:endParaRPr lang="en-US" sz="1300" dirty="0"/>
          </a:p>
        </p:txBody>
      </p:sp>
      <p:sp>
        <p:nvSpPr>
          <p:cNvPr id="6" name="Shape 4"/>
          <p:cNvSpPr/>
          <p:nvPr/>
        </p:nvSpPr>
        <p:spPr>
          <a:xfrm>
            <a:off x="548640" y="3547872"/>
            <a:ext cx="2606040" cy="868680"/>
          </a:xfrm>
          <a:prstGeom prst="roundRect">
            <a:avLst>
              <a:gd name="adj" fmla="val 12632"/>
            </a:avLst>
          </a:prstGeom>
          <a:solidFill>
            <a:srgbClr val="0EA5E9">
              <a:alpha val="25000"/>
            </a:srgbClr>
          </a:solidFill>
          <a:ln w="12700">
            <a:solidFill>
              <a:srgbClr val="0EA5E9"/>
            </a:solidFill>
            <a:prstDash val="solid"/>
          </a:ln>
        </p:spPr>
        <p:txBody>
          <a:bodyPr/>
          <a:lstStyle/>
          <a:p>
            <a:endParaRPr lang="en-US"/>
          </a:p>
        </p:txBody>
      </p:sp>
      <p:sp>
        <p:nvSpPr>
          <p:cNvPr id="7" name="Text 5"/>
          <p:cNvSpPr/>
          <p:nvPr/>
        </p:nvSpPr>
        <p:spPr>
          <a:xfrm>
            <a:off x="548640" y="3566160"/>
            <a:ext cx="2606040" cy="347472"/>
          </a:xfrm>
          <a:prstGeom prst="rect">
            <a:avLst/>
          </a:prstGeom>
          <a:noFill/>
          <a:ln/>
        </p:spPr>
        <p:txBody>
          <a:bodyPr wrap="square" rtlCol="0" anchor="b"/>
          <a:lstStyle/>
          <a:p>
            <a:pPr marL="0" indent="0" algn="ctr">
              <a:buNone/>
            </a:pPr>
            <a:r>
              <a:rPr lang="en-US" sz="1100" dirty="0">
                <a:solidFill>
                  <a:srgbClr val="CADCFC"/>
                </a:solidFill>
                <a:latin typeface="Calibri" pitchFamily="34" charset="0"/>
                <a:ea typeface="Calibri" pitchFamily="34" charset="-122"/>
                <a:cs typeface="Calibri" pitchFamily="34" charset="-120"/>
              </a:rPr>
              <a:t>Best Score</a:t>
            </a:r>
            <a:endParaRPr lang="en-US" sz="1100" dirty="0"/>
          </a:p>
        </p:txBody>
      </p:sp>
      <p:sp>
        <p:nvSpPr>
          <p:cNvPr id="8" name="Text 6"/>
          <p:cNvSpPr/>
          <p:nvPr/>
        </p:nvSpPr>
        <p:spPr>
          <a:xfrm>
            <a:off x="548640" y="3886200"/>
            <a:ext cx="2606040" cy="457200"/>
          </a:xfrm>
          <a:prstGeom prst="rect">
            <a:avLst/>
          </a:prstGeom>
          <a:noFill/>
          <a:ln/>
        </p:spPr>
        <p:txBody>
          <a:bodyPr wrap="square"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0.9128</a:t>
            </a:r>
            <a:endParaRPr lang="en-US" sz="2200" dirty="0"/>
          </a:p>
        </p:txBody>
      </p:sp>
      <p:sp>
        <p:nvSpPr>
          <p:cNvPr id="9" name="Shape 7"/>
          <p:cNvSpPr/>
          <p:nvPr/>
        </p:nvSpPr>
        <p:spPr>
          <a:xfrm>
            <a:off x="3383280" y="3547872"/>
            <a:ext cx="2606040" cy="868680"/>
          </a:xfrm>
          <a:prstGeom prst="roundRect">
            <a:avLst>
              <a:gd name="adj" fmla="val 12632"/>
            </a:avLst>
          </a:prstGeom>
          <a:solidFill>
            <a:srgbClr val="059669">
              <a:alpha val="25000"/>
            </a:srgbClr>
          </a:solidFill>
          <a:ln w="12700">
            <a:solidFill>
              <a:srgbClr val="059669"/>
            </a:solidFill>
            <a:prstDash val="solid"/>
          </a:ln>
        </p:spPr>
        <p:txBody>
          <a:bodyPr/>
          <a:lstStyle/>
          <a:p>
            <a:endParaRPr lang="en-US"/>
          </a:p>
        </p:txBody>
      </p:sp>
      <p:sp>
        <p:nvSpPr>
          <p:cNvPr id="10" name="Text 8"/>
          <p:cNvSpPr/>
          <p:nvPr/>
        </p:nvSpPr>
        <p:spPr>
          <a:xfrm>
            <a:off x="3383280" y="3566160"/>
            <a:ext cx="2606040" cy="347472"/>
          </a:xfrm>
          <a:prstGeom prst="rect">
            <a:avLst/>
          </a:prstGeom>
          <a:noFill/>
          <a:ln/>
        </p:spPr>
        <p:txBody>
          <a:bodyPr wrap="square" rtlCol="0" anchor="b"/>
          <a:lstStyle/>
          <a:p>
            <a:pPr marL="0" indent="0" algn="ctr">
              <a:buNone/>
            </a:pPr>
            <a:r>
              <a:rPr lang="en-US" sz="1100" dirty="0">
                <a:solidFill>
                  <a:srgbClr val="CADCFC"/>
                </a:solidFill>
                <a:latin typeface="Calibri" pitchFamily="34" charset="0"/>
                <a:ea typeface="Calibri" pitchFamily="34" charset="-122"/>
                <a:cs typeface="Calibri" pitchFamily="34" charset="-120"/>
              </a:rPr>
              <a:t>Improvement</a:t>
            </a:r>
            <a:endParaRPr lang="en-US" sz="1100" dirty="0"/>
          </a:p>
        </p:txBody>
      </p:sp>
      <p:sp>
        <p:nvSpPr>
          <p:cNvPr id="11" name="Text 9"/>
          <p:cNvSpPr/>
          <p:nvPr/>
        </p:nvSpPr>
        <p:spPr>
          <a:xfrm>
            <a:off x="3383280" y="3886200"/>
            <a:ext cx="2606040" cy="457200"/>
          </a:xfrm>
          <a:prstGeom prst="rect">
            <a:avLst/>
          </a:prstGeom>
          <a:noFill/>
          <a:ln/>
        </p:spPr>
        <p:txBody>
          <a:bodyPr wrap="square"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+5.14%</a:t>
            </a:r>
            <a:endParaRPr lang="en-US" sz="2200" dirty="0"/>
          </a:p>
        </p:txBody>
      </p:sp>
      <p:sp>
        <p:nvSpPr>
          <p:cNvPr id="12" name="Shape 10"/>
          <p:cNvSpPr/>
          <p:nvPr/>
        </p:nvSpPr>
        <p:spPr>
          <a:xfrm>
            <a:off x="6217920" y="3547872"/>
            <a:ext cx="2606040" cy="868680"/>
          </a:xfrm>
          <a:prstGeom prst="roundRect">
            <a:avLst>
              <a:gd name="adj" fmla="val 12632"/>
            </a:avLst>
          </a:prstGeom>
          <a:solidFill>
            <a:srgbClr val="D97706">
              <a:alpha val="25000"/>
            </a:srgbClr>
          </a:solidFill>
          <a:ln w="12700">
            <a:solidFill>
              <a:srgbClr val="D97706"/>
            </a:solidFill>
            <a:prstDash val="solid"/>
          </a:ln>
        </p:spPr>
        <p:txBody>
          <a:bodyPr/>
          <a:lstStyle/>
          <a:p>
            <a:endParaRPr lang="en-US"/>
          </a:p>
        </p:txBody>
      </p:sp>
      <p:sp>
        <p:nvSpPr>
          <p:cNvPr id="13" name="Text 11"/>
          <p:cNvSpPr/>
          <p:nvPr/>
        </p:nvSpPr>
        <p:spPr>
          <a:xfrm>
            <a:off x="6217920" y="3566160"/>
            <a:ext cx="2606040" cy="347472"/>
          </a:xfrm>
          <a:prstGeom prst="rect">
            <a:avLst/>
          </a:prstGeom>
          <a:noFill/>
          <a:ln/>
        </p:spPr>
        <p:txBody>
          <a:bodyPr wrap="square" rtlCol="0" anchor="b"/>
          <a:lstStyle/>
          <a:p>
            <a:pPr marL="0" indent="0" algn="ctr">
              <a:buNone/>
            </a:pPr>
            <a:r>
              <a:rPr lang="en-US" sz="1100" dirty="0">
                <a:solidFill>
                  <a:srgbClr val="CADCFC"/>
                </a:solidFill>
                <a:latin typeface="Calibri" pitchFamily="34" charset="0"/>
                <a:ea typeface="Calibri" pitchFamily="34" charset="-122"/>
                <a:cs typeface="Calibri" pitchFamily="34" charset="-120"/>
              </a:rPr>
              <a:t>Iterations</a:t>
            </a:r>
            <a:endParaRPr lang="en-US" sz="1100" dirty="0"/>
          </a:p>
        </p:txBody>
      </p:sp>
      <p:sp>
        <p:nvSpPr>
          <p:cNvPr id="14" name="Text 12"/>
          <p:cNvSpPr/>
          <p:nvPr/>
        </p:nvSpPr>
        <p:spPr>
          <a:xfrm>
            <a:off x="6217920" y="3886200"/>
            <a:ext cx="2606040" cy="457200"/>
          </a:xfrm>
          <a:prstGeom prst="rect">
            <a:avLst/>
          </a:prstGeom>
          <a:noFill/>
          <a:ln/>
        </p:spPr>
        <p:txBody>
          <a:bodyPr wrap="square" rtlCol="0" anchor="t"/>
          <a:lstStyle/>
          <a:p>
            <a:pPr marL="0" indent="0" algn="ctr">
              <a:buNone/>
            </a:pPr>
            <a:r>
              <a:rPr lang="en-US" sz="2200" b="1" dirty="0">
                <a:solidFill>
                  <a:srgbClr val="FFFFFF"/>
                </a:solidFill>
                <a:latin typeface="Cambria" pitchFamily="34" charset="0"/>
                <a:ea typeface="Cambria" pitchFamily="34" charset="-122"/>
                <a:cs typeface="Cambria" pitchFamily="34" charset="-120"/>
              </a:rPr>
              <a:t>50 runs</a:t>
            </a:r>
            <a:endParaRPr lang="en-US" sz="2200" dirty="0"/>
          </a:p>
        </p:txBody>
      </p:sp>
      <p:sp>
        <p:nvSpPr>
          <p:cNvPr id="15" name="Shape 13"/>
          <p:cNvSpPr/>
          <p:nvPr/>
        </p:nvSpPr>
        <p:spPr>
          <a:xfrm>
            <a:off x="8549640" y="365760"/>
            <a:ext cx="292608" cy="292608"/>
          </a:xfrm>
          <a:prstGeom prst="ellipse">
            <a:avLst/>
          </a:prstGeom>
          <a:solidFill>
            <a:srgbClr val="4ADE80">
              <a:alpha val="80000"/>
            </a:srgbClr>
          </a:solidFill>
          <a:ln w="12700">
            <a:solidFill>
              <a:srgbClr val="4ADE80"/>
            </a:solidFill>
            <a:prstDash val="solid"/>
          </a:ln>
        </p:spPr>
        <p:txBody>
          <a:bodyPr/>
          <a:lstStyle/>
          <a:p>
            <a:endParaRPr lang="en-US"/>
          </a:p>
        </p:txBody>
      </p:sp>
      <p:sp>
        <p:nvSpPr>
          <p:cNvPr id="16" name="Shape 14"/>
          <p:cNvSpPr/>
          <p:nvPr/>
        </p:nvSpPr>
        <p:spPr>
          <a:xfrm>
            <a:off x="8961120" y="1033272"/>
            <a:ext cx="292608" cy="292608"/>
          </a:xfrm>
          <a:prstGeom prst="ellipse">
            <a:avLst/>
          </a:prstGeom>
          <a:solidFill>
            <a:srgbClr val="60A5FA">
              <a:alpha val="80000"/>
            </a:srgbClr>
          </a:solidFill>
          <a:ln w="12700">
            <a:solidFill>
              <a:srgbClr val="60A5FA"/>
            </a:solidFill>
            <a:prstDash val="solid"/>
          </a:ln>
        </p:spPr>
        <p:txBody>
          <a:bodyPr/>
          <a:lstStyle/>
          <a:p>
            <a:endParaRPr lang="en-US"/>
          </a:p>
        </p:txBody>
      </p:sp>
      <p:sp>
        <p:nvSpPr>
          <p:cNvPr id="17" name="Shape 15"/>
          <p:cNvSpPr/>
          <p:nvPr/>
        </p:nvSpPr>
        <p:spPr>
          <a:xfrm>
            <a:off x="8549640" y="1700784"/>
            <a:ext cx="292608" cy="292608"/>
          </a:xfrm>
          <a:prstGeom prst="ellipse">
            <a:avLst/>
          </a:prstGeom>
          <a:solidFill>
            <a:srgbClr val="FB923C">
              <a:alpha val="80000"/>
            </a:srgbClr>
          </a:solidFill>
          <a:ln w="12700">
            <a:solidFill>
              <a:srgbClr val="FB923C"/>
            </a:solidFill>
            <a:prstDash val="solid"/>
          </a:ln>
        </p:spPr>
        <p:txBody>
          <a:bodyPr/>
          <a:lstStyle/>
          <a:p>
            <a:endParaRPr lang="en-US"/>
          </a:p>
        </p:txBody>
      </p:sp>
      <p:sp>
        <p:nvSpPr>
          <p:cNvPr id="18" name="Shape 16"/>
          <p:cNvSpPr/>
          <p:nvPr/>
        </p:nvSpPr>
        <p:spPr>
          <a:xfrm>
            <a:off x="8961120" y="2368296"/>
            <a:ext cx="292608" cy="292608"/>
          </a:xfrm>
          <a:prstGeom prst="ellipse">
            <a:avLst/>
          </a:prstGeom>
          <a:solidFill>
            <a:srgbClr val="A78BFA">
              <a:alpha val="80000"/>
            </a:srgbClr>
          </a:solidFill>
          <a:ln w="12700">
            <a:solidFill>
              <a:srgbClr val="A78BFA"/>
            </a:solidFill>
            <a:prstDash val="solid"/>
          </a:ln>
        </p:spPr>
        <p:txBody>
          <a:bodyPr/>
          <a:lstStyle/>
          <a:p>
            <a:endParaRPr lang="en-US"/>
          </a:p>
        </p:txBody>
      </p:sp>
      <p:sp>
        <p:nvSpPr>
          <p:cNvPr id="19" name="Shape 17"/>
          <p:cNvSpPr/>
          <p:nvPr/>
        </p:nvSpPr>
        <p:spPr>
          <a:xfrm>
            <a:off x="8549640" y="3035808"/>
            <a:ext cx="292608" cy="292608"/>
          </a:xfrm>
          <a:prstGeom prst="ellipse">
            <a:avLst/>
          </a:prstGeom>
          <a:solidFill>
            <a:srgbClr val="4ADE80">
              <a:alpha val="80000"/>
            </a:srgbClr>
          </a:solidFill>
          <a:ln w="12700">
            <a:solidFill>
              <a:srgbClr val="4ADE80"/>
            </a:solidFill>
            <a:prstDash val="solid"/>
          </a:ln>
        </p:spPr>
        <p:txBody>
          <a:bodyPr/>
          <a:lstStyle/>
          <a:p>
            <a:endParaRPr lang="en-US"/>
          </a:p>
        </p:txBody>
      </p:sp>
      <p:sp>
        <p:nvSpPr>
          <p:cNvPr id="20" name="Shape 18"/>
          <p:cNvSpPr/>
          <p:nvPr/>
        </p:nvSpPr>
        <p:spPr>
          <a:xfrm>
            <a:off x="8961120" y="3703320"/>
            <a:ext cx="292608" cy="292608"/>
          </a:xfrm>
          <a:prstGeom prst="ellipse">
            <a:avLst/>
          </a:prstGeom>
          <a:solidFill>
            <a:srgbClr val="60A5FA">
              <a:alpha val="80000"/>
            </a:srgbClr>
          </a:solidFill>
          <a:ln w="12700">
            <a:solidFill>
              <a:srgbClr val="60A5FA"/>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94360"/>
          </a:xfrm>
          <a:prstGeom prst="rect">
            <a:avLst/>
          </a:prstGeom>
          <a:noFill/>
          <a:ln/>
        </p:spPr>
        <p:txBody>
          <a:bodyPr wrap="square"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The Problem: Why Generic Prediction Fails</a:t>
            </a:r>
            <a:endParaRPr lang="en-US" sz="2900" dirty="0"/>
          </a:p>
        </p:txBody>
      </p:sp>
      <p:sp>
        <p:nvSpPr>
          <p:cNvPr id="3" name="Text 1"/>
          <p:cNvSpPr/>
          <p:nvPr/>
        </p:nvSpPr>
        <p:spPr>
          <a:xfrm>
            <a:off x="457200" y="758952"/>
            <a:ext cx="8229600" cy="347472"/>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Task: Given a Yelp user ID and a business ID — predict the exact star rating (1–5★) and generate a realistic review.</a:t>
            </a:r>
            <a:endParaRPr lang="en-US" sz="1300" dirty="0"/>
          </a:p>
        </p:txBody>
      </p:sp>
      <p:sp>
        <p:nvSpPr>
          <p:cNvPr id="4" name="Shape 2"/>
          <p:cNvSpPr/>
          <p:nvPr/>
        </p:nvSpPr>
        <p:spPr>
          <a:xfrm>
            <a:off x="320040" y="1170432"/>
            <a:ext cx="2606040" cy="2377440"/>
          </a:xfrm>
          <a:prstGeom prst="roundRect">
            <a:avLst>
              <a:gd name="adj" fmla="val 4615"/>
            </a:avLst>
          </a:prstGeom>
          <a:solidFill>
            <a:srgbClr val="EFF6FF"/>
          </a:solidFill>
          <a:ln w="12700">
            <a:solidFill>
              <a:srgbClr val="93C5FD"/>
            </a:solidFill>
            <a:prstDash val="solid"/>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411480" y="1234440"/>
            <a:ext cx="2423160" cy="384048"/>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 USER (cold-start)</a:t>
            </a:r>
            <a:endParaRPr lang="en-US" sz="1300" dirty="0"/>
          </a:p>
        </p:txBody>
      </p:sp>
      <p:sp>
        <p:nvSpPr>
          <p:cNvPr id="6" name="Text 4"/>
          <p:cNvSpPr/>
          <p:nvPr/>
        </p:nvSpPr>
        <p:spPr>
          <a:xfrm>
            <a:off x="320040" y="1664208"/>
            <a:ext cx="2606040" cy="658368"/>
          </a:xfrm>
          <a:prstGeom prst="rect">
            <a:avLst/>
          </a:prstGeom>
          <a:noFill/>
          <a:ln/>
        </p:spPr>
        <p:txBody>
          <a:bodyPr wrap="square" rtlCol="0" anchor="ctr"/>
          <a:lstStyle/>
          <a:p>
            <a:pPr marL="0" indent="0" algn="ctr">
              <a:buNone/>
            </a:pPr>
            <a:r>
              <a:rPr lang="en-US" sz="3000" b="1" dirty="0">
                <a:solidFill>
                  <a:srgbClr val="059669"/>
                </a:solidFill>
                <a:latin typeface="Cambria" pitchFamily="34" charset="0"/>
                <a:ea typeface="Cambria" pitchFamily="34" charset="-122"/>
                <a:cs typeface="Cambria" pitchFamily="34" charset="-120"/>
              </a:rPr>
              <a:t>avg★ = N/A</a:t>
            </a:r>
            <a:endParaRPr lang="en-US" sz="3000" dirty="0"/>
          </a:p>
        </p:txBody>
      </p:sp>
      <p:sp>
        <p:nvSpPr>
          <p:cNvPr id="7" name="Text 5"/>
          <p:cNvSpPr/>
          <p:nvPr/>
        </p:nvSpPr>
        <p:spPr>
          <a:xfrm>
            <a:off x="411480" y="2359152"/>
            <a:ext cx="2423160" cy="1078992"/>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Zero history</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No DB profile found!</a:t>
            </a:r>
            <a:endParaRPr lang="en-US" sz="1200" dirty="0"/>
          </a:p>
        </p:txBody>
      </p:sp>
      <p:sp>
        <p:nvSpPr>
          <p:cNvPr id="8" name="Shape 6"/>
          <p:cNvSpPr/>
          <p:nvPr/>
        </p:nvSpPr>
        <p:spPr>
          <a:xfrm>
            <a:off x="3154680" y="1170432"/>
            <a:ext cx="2606040" cy="2377440"/>
          </a:xfrm>
          <a:prstGeom prst="roundRect">
            <a:avLst>
              <a:gd name="adj" fmla="val 4615"/>
            </a:avLst>
          </a:prstGeom>
          <a:solidFill>
            <a:srgbClr val="F0FDF4"/>
          </a:solidFill>
          <a:ln w="12700">
            <a:solidFill>
              <a:srgbClr val="86EFAC"/>
            </a:solidFill>
            <a:prstDash val="solid"/>
          </a:ln>
          <a:effectLst>
            <a:outerShdw blurRad="63500" dist="25400" dir="2700000" algn="bl" rotWithShape="0">
              <a:srgbClr val="000000">
                <a:alpha val="12000"/>
              </a:srgbClr>
            </a:outerShdw>
          </a:effectLst>
        </p:spPr>
        <p:txBody>
          <a:bodyPr/>
          <a:lstStyle/>
          <a:p>
            <a:endParaRPr lang="en-US"/>
          </a:p>
        </p:txBody>
      </p:sp>
      <p:sp>
        <p:nvSpPr>
          <p:cNvPr id="9" name="Text 7"/>
          <p:cNvSpPr/>
          <p:nvPr/>
        </p:nvSpPr>
        <p:spPr>
          <a:xfrm>
            <a:off x="3246120" y="1234440"/>
            <a:ext cx="2423160" cy="384048"/>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 BUSINESS</a:t>
            </a:r>
            <a:endParaRPr lang="en-US" sz="1300" dirty="0"/>
          </a:p>
        </p:txBody>
      </p:sp>
      <p:sp>
        <p:nvSpPr>
          <p:cNvPr id="10" name="Text 8"/>
          <p:cNvSpPr/>
          <p:nvPr/>
        </p:nvSpPr>
        <p:spPr>
          <a:xfrm>
            <a:off x="3154680" y="1664208"/>
            <a:ext cx="2606040" cy="658368"/>
          </a:xfrm>
          <a:prstGeom prst="rect">
            <a:avLst/>
          </a:prstGeom>
          <a:noFill/>
          <a:ln/>
        </p:spPr>
        <p:txBody>
          <a:bodyPr wrap="square" rtlCol="0" anchor="ctr"/>
          <a:lstStyle/>
          <a:p>
            <a:pPr marL="0" indent="0" algn="ctr">
              <a:buNone/>
            </a:pPr>
            <a:r>
              <a:rPr lang="en-US" sz="3000" b="1" dirty="0">
                <a:solidFill>
                  <a:srgbClr val="059669"/>
                </a:solidFill>
                <a:latin typeface="Cambria" pitchFamily="34" charset="0"/>
                <a:ea typeface="Cambria" pitchFamily="34" charset="-122"/>
                <a:cs typeface="Cambria" pitchFamily="34" charset="-120"/>
              </a:rPr>
              <a:t>avg★ = 4.0</a:t>
            </a:r>
            <a:endParaRPr lang="en-US" sz="3000" dirty="0"/>
          </a:p>
        </p:txBody>
      </p:sp>
      <p:sp>
        <p:nvSpPr>
          <p:cNvPr id="11" name="Text 9"/>
          <p:cNvSpPr/>
          <p:nvPr/>
        </p:nvSpPr>
        <p:spPr>
          <a:xfrm>
            <a:off x="3246120" y="2359152"/>
            <a:ext cx="2423160" cy="1078992"/>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Anthony's Coal Fired Pizza</a:t>
            </a:r>
            <a:endParaRPr lang="en-US" sz="1200" dirty="0"/>
          </a:p>
          <a:p>
            <a:pPr marL="0" indent="0" algn="ctr">
              <a:buNone/>
            </a:pPr>
            <a:r>
              <a:rPr lang="en-US" sz="1200" dirty="0">
                <a:solidFill>
                  <a:srgbClr val="64748B"/>
                </a:solidFill>
                <a:latin typeface="Calibri" pitchFamily="34" charset="0"/>
                <a:ea typeface="Calibri" pitchFamily="34" charset="-122"/>
                <a:cs typeface="Calibri" pitchFamily="34" charset="-120"/>
              </a:rPr>
              <a:t>Tampa FL — well-rated</a:t>
            </a:r>
            <a:endParaRPr lang="en-US" sz="1200" dirty="0"/>
          </a:p>
        </p:txBody>
      </p:sp>
      <p:sp>
        <p:nvSpPr>
          <p:cNvPr id="12" name="Shape 10"/>
          <p:cNvSpPr/>
          <p:nvPr/>
        </p:nvSpPr>
        <p:spPr>
          <a:xfrm>
            <a:off x="5989320" y="1170432"/>
            <a:ext cx="2606040" cy="2377440"/>
          </a:xfrm>
          <a:prstGeom prst="roundRect">
            <a:avLst>
              <a:gd name="adj" fmla="val 4615"/>
            </a:avLst>
          </a:prstGeom>
          <a:solidFill>
            <a:srgbClr val="FEF2F2"/>
          </a:solidFill>
          <a:ln w="12700">
            <a:solidFill>
              <a:srgbClr val="DC2626"/>
            </a:solidFill>
            <a:prstDash val="solid"/>
          </a:ln>
          <a:effectLst>
            <a:outerShdw blurRad="63500" dist="25400" dir="2700000" algn="bl" rotWithShape="0">
              <a:srgbClr val="000000">
                <a:alpha val="12000"/>
              </a:srgbClr>
            </a:outerShdw>
          </a:effectLst>
        </p:spPr>
        <p:txBody>
          <a:bodyPr/>
          <a:lstStyle/>
          <a:p>
            <a:endParaRPr lang="en-US"/>
          </a:p>
        </p:txBody>
      </p:sp>
      <p:sp>
        <p:nvSpPr>
          <p:cNvPr id="13" name="Text 11"/>
          <p:cNvSpPr/>
          <p:nvPr/>
        </p:nvSpPr>
        <p:spPr>
          <a:xfrm>
            <a:off x="6080760" y="1234440"/>
            <a:ext cx="2423160" cy="384048"/>
          </a:xfrm>
          <a:prstGeom prst="rect">
            <a:avLst/>
          </a:prstGeom>
          <a:noFill/>
          <a:ln/>
        </p:spPr>
        <p:txBody>
          <a:bodyPr wrap="square" rtlCol="0" anchor="ctr"/>
          <a:lstStyle/>
          <a:p>
            <a:pPr marL="0" indent="0" algn="ctr">
              <a:buNone/>
            </a:pPr>
            <a:r>
              <a:rPr lang="en-US" sz="1300" b="1" dirty="0">
                <a:solidFill>
                  <a:srgbClr val="DC2626"/>
                </a:solidFill>
                <a:latin typeface="Calibri" pitchFamily="34" charset="0"/>
                <a:ea typeface="Calibri" pitchFamily="34" charset="-122"/>
                <a:cs typeface="Calibri" pitchFamily="34" charset="-120"/>
              </a:rPr>
              <a:t>❌ NAIVE PREDICTION</a:t>
            </a:r>
            <a:endParaRPr lang="en-US" sz="1300" dirty="0"/>
          </a:p>
        </p:txBody>
      </p:sp>
      <p:sp>
        <p:nvSpPr>
          <p:cNvPr id="14" name="Text 12"/>
          <p:cNvSpPr/>
          <p:nvPr/>
        </p:nvSpPr>
        <p:spPr>
          <a:xfrm>
            <a:off x="5989320" y="1664208"/>
            <a:ext cx="2606040" cy="658368"/>
          </a:xfrm>
          <a:prstGeom prst="rect">
            <a:avLst/>
          </a:prstGeom>
          <a:noFill/>
          <a:ln/>
        </p:spPr>
        <p:txBody>
          <a:bodyPr wrap="square" rtlCol="0" anchor="ctr"/>
          <a:lstStyle/>
          <a:p>
            <a:pPr marL="0" indent="0" algn="ctr">
              <a:buNone/>
            </a:pPr>
            <a:r>
              <a:rPr lang="en-US" sz="3000" b="1" dirty="0">
                <a:solidFill>
                  <a:srgbClr val="DC2626"/>
                </a:solidFill>
                <a:latin typeface="Cambria" pitchFamily="34" charset="0"/>
                <a:ea typeface="Cambria" pitchFamily="34" charset="-122"/>
                <a:cs typeface="Cambria" pitchFamily="34" charset="-120"/>
              </a:rPr>
              <a:t>~4.0★</a:t>
            </a:r>
            <a:endParaRPr lang="en-US" sz="3000" dirty="0"/>
          </a:p>
        </p:txBody>
      </p:sp>
      <p:sp>
        <p:nvSpPr>
          <p:cNvPr id="15" name="Text 13"/>
          <p:cNvSpPr/>
          <p:nvPr/>
        </p:nvSpPr>
        <p:spPr>
          <a:xfrm>
            <a:off x="6080760" y="2359152"/>
            <a:ext cx="2423160" cy="1078992"/>
          </a:xfrm>
          <a:prstGeom prst="rect">
            <a:avLst/>
          </a:prstGeom>
          <a:noFill/>
          <a:ln/>
        </p:spPr>
        <p:txBody>
          <a:bodyPr wrap="square" rtlCol="0" anchor="ctr"/>
          <a:lstStyle/>
          <a:p>
            <a:pPr marL="0" indent="0" algn="ctr">
              <a:buNone/>
            </a:pPr>
            <a:r>
              <a:rPr lang="en-US" sz="1200" dirty="0">
                <a:solidFill>
                  <a:srgbClr val="DC2626"/>
                </a:solidFill>
                <a:latin typeface="Calibri" pitchFamily="34" charset="0"/>
                <a:ea typeface="Calibri" pitchFamily="34" charset="-122"/>
                <a:cs typeface="Calibri" pitchFamily="34" charset="-120"/>
              </a:rPr>
              <a:t>Simple fallback method</a:t>
            </a:r>
            <a:endParaRPr lang="en-US" sz="1200" dirty="0"/>
          </a:p>
          <a:p>
            <a:pPr marL="0" indent="0" algn="ctr">
              <a:buNone/>
            </a:pPr>
            <a:r>
              <a:rPr lang="en-US" sz="1200" dirty="0">
                <a:solidFill>
                  <a:srgbClr val="DC2626"/>
                </a:solidFill>
                <a:latin typeface="Calibri" pitchFamily="34" charset="0"/>
                <a:ea typeface="Calibri" pitchFamily="34" charset="-122"/>
                <a:cs typeface="Calibri" pitchFamily="34" charset="-120"/>
              </a:rPr>
              <a:t>OFF by 1.0 stars!</a:t>
            </a:r>
            <a:endParaRPr lang="en-US" sz="1200" dirty="0"/>
          </a:p>
        </p:txBody>
      </p:sp>
      <p:sp>
        <p:nvSpPr>
          <p:cNvPr id="16" name="Shape 14"/>
          <p:cNvSpPr/>
          <p:nvPr/>
        </p:nvSpPr>
        <p:spPr>
          <a:xfrm>
            <a:off x="320040" y="3657600"/>
            <a:ext cx="8503920" cy="1078992"/>
          </a:xfrm>
          <a:prstGeom prst="roundRect">
            <a:avLst>
              <a:gd name="adj" fmla="val 10169"/>
            </a:avLst>
          </a:prstGeom>
          <a:solidFill>
            <a:srgbClr val="FFFBEB"/>
          </a:solidFill>
          <a:ln w="12700">
            <a:solidFill>
              <a:srgbClr val="D97706"/>
            </a:solidFill>
            <a:prstDash val="solid"/>
          </a:ln>
        </p:spPr>
        <p:txBody>
          <a:bodyPr/>
          <a:lstStyle/>
          <a:p>
            <a:endParaRPr lang="en-US"/>
          </a:p>
        </p:txBody>
      </p:sp>
      <p:sp>
        <p:nvSpPr>
          <p:cNvPr id="17" name="Text 15"/>
          <p:cNvSpPr/>
          <p:nvPr/>
        </p:nvSpPr>
        <p:spPr>
          <a:xfrm>
            <a:off x="502920" y="3730752"/>
            <a:ext cx="8229600" cy="914400"/>
          </a:xfrm>
          <a:prstGeom prst="rect">
            <a:avLst/>
          </a:prstGeom>
          <a:noFill/>
          <a:ln/>
        </p:spPr>
        <p:txBody>
          <a:bodyPr wrap="square" rtlCol="0" anchor="ctr"/>
          <a:lstStyle/>
          <a:p>
            <a:pPr marL="0" indent="0">
              <a:buNone/>
            </a:pPr>
            <a:r>
              <a:rPr lang="en-US" sz="1300" dirty="0">
                <a:solidFill>
                  <a:srgbClr val="92400E"/>
                </a:solidFill>
                <a:latin typeface="Calibri" pitchFamily="34" charset="0"/>
                <a:ea typeface="Calibri" pitchFamily="34" charset="-122"/>
                <a:cs typeface="Calibri" pitchFamily="34" charset="-120"/>
              </a:rPr>
              <a:t>✅  Ground Truth: 5.0★  —  The user (a soldier with 3 years in Italy, craving real pizza) absolutely loved it. The 'cold-start' problem meant zero user history was available — the system had to rely entirely on business signals.</a:t>
            </a:r>
            <a:endParaRPr lang="en-US" sz="1300" dirty="0"/>
          </a:p>
        </p:txBody>
      </p:sp>
      <p:sp>
        <p:nvSpPr>
          <p:cNvPr id="18" name="Text 16"/>
          <p:cNvSpPr/>
          <p:nvPr/>
        </p:nvSpPr>
        <p:spPr>
          <a:xfrm>
            <a:off x="320040" y="4828032"/>
            <a:ext cx="8503920" cy="256032"/>
          </a:xfrm>
          <a:prstGeom prst="rect">
            <a:avLst/>
          </a:prstGeom>
          <a:noFill/>
          <a:ln/>
        </p:spPr>
        <p:txBody>
          <a:bodyPr wrap="square" rtlCol="0" anchor="ctr"/>
          <a:lstStyle/>
          <a:p>
            <a:pPr marL="0" indent="0" algn="ctr">
              <a:buNone/>
            </a:pPr>
            <a:r>
              <a:rPr lang="en-US" sz="1200" b="1" dirty="0">
                <a:solidFill>
                  <a:srgbClr val="DC2626"/>
                </a:solidFill>
                <a:latin typeface="Calibri" pitchFamily="34" charset="0"/>
                <a:ea typeface="Calibri" pitchFamily="34" charset="-122"/>
                <a:cs typeface="Calibri" pitchFamily="34" charset="-120"/>
              </a:rPr>
              <a:t>⚠️  The challenge is not averages — it is understanding WHY a specific person rates a specific place.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94360"/>
          </a:xfrm>
          <a:prstGeom prst="rect">
            <a:avLst/>
          </a:prstGeom>
          <a:noFill/>
          <a:ln/>
        </p:spPr>
        <p:txBody>
          <a:bodyPr wrap="square"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Our Goal: Make AI Reason About Human Behavior</a:t>
            </a:r>
            <a:endParaRPr lang="en-US" sz="2900" dirty="0"/>
          </a:p>
        </p:txBody>
      </p:sp>
      <p:sp>
        <p:nvSpPr>
          <p:cNvPr id="3" name="Shape 1"/>
          <p:cNvSpPr/>
          <p:nvPr/>
        </p:nvSpPr>
        <p:spPr>
          <a:xfrm>
            <a:off x="320040" y="960120"/>
            <a:ext cx="1993392" cy="3794760"/>
          </a:xfrm>
          <a:prstGeom prst="roundRect">
            <a:avLst>
              <a:gd name="adj" fmla="val 5505"/>
            </a:avLst>
          </a:prstGeom>
          <a:solidFill>
            <a:srgbClr val="EFF6FF"/>
          </a:solidFill>
          <a:ln w="12700">
            <a:solidFill>
              <a:srgbClr val="93C5FD"/>
            </a:solidFill>
            <a:prstDash val="solid"/>
          </a:ln>
          <a:effectLst>
            <a:outerShdw blurRad="63500" dist="25400" dir="2700000" algn="bl" rotWithShape="0">
              <a:srgbClr val="000000">
                <a:alpha val="12000"/>
              </a:srgbClr>
            </a:outerShdw>
          </a:effectLst>
        </p:spPr>
        <p:txBody>
          <a:bodyPr/>
          <a:lstStyle/>
          <a:p>
            <a:endParaRPr lang="en-US"/>
          </a:p>
        </p:txBody>
      </p:sp>
      <p:sp>
        <p:nvSpPr>
          <p:cNvPr id="4" name="Shape 2"/>
          <p:cNvSpPr/>
          <p:nvPr/>
        </p:nvSpPr>
        <p:spPr>
          <a:xfrm>
            <a:off x="1042416" y="1024128"/>
            <a:ext cx="548640" cy="548640"/>
          </a:xfrm>
          <a:prstGeom prst="ellipse">
            <a:avLst/>
          </a:prstGeom>
          <a:solidFill>
            <a:srgbClr val="93C5FD"/>
          </a:solidFill>
          <a:ln w="12700">
            <a:solidFill>
              <a:srgbClr val="93C5FD"/>
            </a:solidFill>
            <a:prstDash val="solid"/>
          </a:ln>
        </p:spPr>
        <p:txBody>
          <a:bodyPr/>
          <a:lstStyle/>
          <a:p>
            <a:endParaRPr lang="en-US"/>
          </a:p>
        </p:txBody>
      </p:sp>
      <p:sp>
        <p:nvSpPr>
          <p:cNvPr id="5" name="Text 3"/>
          <p:cNvSpPr/>
          <p:nvPr/>
        </p:nvSpPr>
        <p:spPr>
          <a:xfrm>
            <a:off x="1042416" y="1024128"/>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320040" y="1664208"/>
            <a:ext cx="1993392" cy="548640"/>
          </a:xfrm>
          <a:prstGeom prst="rect">
            <a:avLst/>
          </a:prstGeom>
          <a:noFill/>
          <a:ln/>
        </p:spPr>
        <p:txBody>
          <a:bodyPr wrap="square" rtlCol="0" anchor="ctr"/>
          <a:lstStyle/>
          <a:p>
            <a:pPr marL="0" indent="0" algn="ctr">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7" name="Text 5"/>
          <p:cNvSpPr/>
          <p:nvPr/>
        </p:nvSpPr>
        <p:spPr>
          <a:xfrm>
            <a:off x="402336" y="2267712"/>
            <a:ext cx="1828800" cy="41148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Retrieve</a:t>
            </a:r>
            <a:endParaRPr lang="en-US" sz="1600" dirty="0"/>
          </a:p>
        </p:txBody>
      </p:sp>
      <p:sp>
        <p:nvSpPr>
          <p:cNvPr id="8" name="Text 6"/>
          <p:cNvSpPr/>
          <p:nvPr/>
        </p:nvSpPr>
        <p:spPr>
          <a:xfrm>
            <a:off x="411480" y="2743200"/>
            <a:ext cx="1828800" cy="1920240"/>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Pull all available data: user profile, review history, business attributes, reviews, and external web context via search</a:t>
            </a:r>
            <a:endParaRPr lang="en-US" sz="1150" dirty="0"/>
          </a:p>
        </p:txBody>
      </p:sp>
      <p:sp>
        <p:nvSpPr>
          <p:cNvPr id="9" name="Text 7"/>
          <p:cNvSpPr/>
          <p:nvPr/>
        </p:nvSpPr>
        <p:spPr>
          <a:xfrm>
            <a:off x="2148840" y="2468880"/>
            <a:ext cx="347472" cy="457200"/>
          </a:xfrm>
          <a:prstGeom prst="rect">
            <a:avLst/>
          </a:prstGeom>
          <a:noFill/>
          <a:ln/>
        </p:spPr>
        <p:txBody>
          <a:bodyPr wrap="square"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487168" y="960120"/>
            <a:ext cx="1993392" cy="3794760"/>
          </a:xfrm>
          <a:prstGeom prst="roundRect">
            <a:avLst>
              <a:gd name="adj" fmla="val 5505"/>
            </a:avLst>
          </a:prstGeom>
          <a:solidFill>
            <a:srgbClr val="F0FDF4"/>
          </a:solidFill>
          <a:ln w="12700">
            <a:solidFill>
              <a:srgbClr val="86EFAC"/>
            </a:solidFill>
            <a:prstDash val="solid"/>
          </a:ln>
          <a:effectLst>
            <a:outerShdw blurRad="63500" dist="25400" dir="2700000" algn="bl" rotWithShape="0">
              <a:srgbClr val="000000">
                <a:alpha val="12000"/>
              </a:srgbClr>
            </a:outerShdw>
          </a:effectLst>
        </p:spPr>
        <p:txBody>
          <a:bodyPr/>
          <a:lstStyle/>
          <a:p>
            <a:endParaRPr lang="en-US"/>
          </a:p>
        </p:txBody>
      </p:sp>
      <p:sp>
        <p:nvSpPr>
          <p:cNvPr id="11" name="Shape 9"/>
          <p:cNvSpPr/>
          <p:nvPr/>
        </p:nvSpPr>
        <p:spPr>
          <a:xfrm>
            <a:off x="3209544" y="1024128"/>
            <a:ext cx="548640" cy="548640"/>
          </a:xfrm>
          <a:prstGeom prst="ellipse">
            <a:avLst/>
          </a:prstGeom>
          <a:solidFill>
            <a:srgbClr val="86EFAC"/>
          </a:solidFill>
          <a:ln w="12700">
            <a:solidFill>
              <a:srgbClr val="86EFAC"/>
            </a:solidFill>
            <a:prstDash val="solid"/>
          </a:ln>
        </p:spPr>
        <p:txBody>
          <a:bodyPr/>
          <a:lstStyle/>
          <a:p>
            <a:endParaRPr lang="en-US"/>
          </a:p>
        </p:txBody>
      </p:sp>
      <p:sp>
        <p:nvSpPr>
          <p:cNvPr id="12" name="Text 10"/>
          <p:cNvSpPr/>
          <p:nvPr/>
        </p:nvSpPr>
        <p:spPr>
          <a:xfrm>
            <a:off x="3209544" y="1024128"/>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487168" y="1664208"/>
            <a:ext cx="1993392" cy="548640"/>
          </a:xfrm>
          <a:prstGeom prst="rect">
            <a:avLst/>
          </a:prstGeom>
          <a:noFill/>
          <a:ln/>
        </p:spPr>
        <p:txBody>
          <a:bodyPr wrap="square" rtlCol="0" anchor="ctr"/>
          <a:lstStyle/>
          <a:p>
            <a:pPr marL="0" indent="0" algn="ctr">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14" name="Text 12"/>
          <p:cNvSpPr/>
          <p:nvPr/>
        </p:nvSpPr>
        <p:spPr>
          <a:xfrm>
            <a:off x="2569464" y="2267712"/>
            <a:ext cx="1828800" cy="41148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Classify</a:t>
            </a:r>
            <a:endParaRPr lang="en-US" sz="1600" dirty="0"/>
          </a:p>
        </p:txBody>
      </p:sp>
      <p:sp>
        <p:nvSpPr>
          <p:cNvPr id="15" name="Text 13"/>
          <p:cNvSpPr/>
          <p:nvPr/>
        </p:nvSpPr>
        <p:spPr>
          <a:xfrm>
            <a:off x="2578608" y="2743200"/>
            <a:ext cx="1828800" cy="1920240"/>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Assign a USER behavioral archetype with a Review DNA profile AND a BUSINESS quality archetype with verdict thresholds</a:t>
            </a:r>
            <a:endParaRPr lang="en-US" sz="1150" dirty="0"/>
          </a:p>
        </p:txBody>
      </p:sp>
      <p:sp>
        <p:nvSpPr>
          <p:cNvPr id="16" name="Text 14"/>
          <p:cNvSpPr/>
          <p:nvPr/>
        </p:nvSpPr>
        <p:spPr>
          <a:xfrm>
            <a:off x="4315968" y="2468880"/>
            <a:ext cx="347472" cy="457200"/>
          </a:xfrm>
          <a:prstGeom prst="rect">
            <a:avLst/>
          </a:prstGeom>
          <a:noFill/>
          <a:ln/>
        </p:spPr>
        <p:txBody>
          <a:bodyPr wrap="square"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4654296" y="960120"/>
            <a:ext cx="1993392" cy="3794760"/>
          </a:xfrm>
          <a:prstGeom prst="roundRect">
            <a:avLst>
              <a:gd name="adj" fmla="val 5505"/>
            </a:avLst>
          </a:prstGeom>
          <a:solidFill>
            <a:srgbClr val="FFF7ED"/>
          </a:solidFill>
          <a:ln w="12700">
            <a:solidFill>
              <a:srgbClr val="FCD34D"/>
            </a:solidFill>
            <a:prstDash val="solid"/>
          </a:ln>
          <a:effectLst>
            <a:outerShdw blurRad="63500" dist="25400" dir="2700000" algn="bl" rotWithShape="0">
              <a:srgbClr val="000000">
                <a:alpha val="12000"/>
              </a:srgbClr>
            </a:outerShdw>
          </a:effectLst>
        </p:spPr>
        <p:txBody>
          <a:bodyPr/>
          <a:lstStyle/>
          <a:p>
            <a:endParaRPr lang="en-US"/>
          </a:p>
        </p:txBody>
      </p:sp>
      <p:sp>
        <p:nvSpPr>
          <p:cNvPr id="18" name="Shape 16"/>
          <p:cNvSpPr/>
          <p:nvPr/>
        </p:nvSpPr>
        <p:spPr>
          <a:xfrm>
            <a:off x="5376672" y="1024128"/>
            <a:ext cx="548640" cy="548640"/>
          </a:xfrm>
          <a:prstGeom prst="ellipse">
            <a:avLst/>
          </a:prstGeom>
          <a:solidFill>
            <a:srgbClr val="FCD34D"/>
          </a:solidFill>
          <a:ln w="12700">
            <a:solidFill>
              <a:srgbClr val="FCD34D"/>
            </a:solidFill>
            <a:prstDash val="solid"/>
          </a:ln>
        </p:spPr>
        <p:txBody>
          <a:bodyPr/>
          <a:lstStyle/>
          <a:p>
            <a:endParaRPr lang="en-US"/>
          </a:p>
        </p:txBody>
      </p:sp>
      <p:sp>
        <p:nvSpPr>
          <p:cNvPr id="19" name="Text 17"/>
          <p:cNvSpPr/>
          <p:nvPr/>
        </p:nvSpPr>
        <p:spPr>
          <a:xfrm>
            <a:off x="5376672" y="1024128"/>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4654296" y="1664208"/>
            <a:ext cx="1993392" cy="548640"/>
          </a:xfrm>
          <a:prstGeom prst="rect">
            <a:avLst/>
          </a:prstGeom>
          <a:noFill/>
          <a:ln/>
        </p:spPr>
        <p:txBody>
          <a:bodyPr wrap="square" rtlCol="0" anchor="ctr"/>
          <a:lstStyle/>
          <a:p>
            <a:pPr marL="0" indent="0" algn="ctr">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21" name="Text 19"/>
          <p:cNvSpPr/>
          <p:nvPr/>
        </p:nvSpPr>
        <p:spPr>
          <a:xfrm>
            <a:off x="4736592" y="2267712"/>
            <a:ext cx="1828800" cy="41148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Reason</a:t>
            </a:r>
            <a:endParaRPr lang="en-US" sz="1600" dirty="0"/>
          </a:p>
        </p:txBody>
      </p:sp>
      <p:sp>
        <p:nvSpPr>
          <p:cNvPr id="22" name="Text 20"/>
          <p:cNvSpPr/>
          <p:nvPr/>
        </p:nvSpPr>
        <p:spPr>
          <a:xfrm>
            <a:off x="4745736" y="2743200"/>
            <a:ext cx="1828800" cy="1920240"/>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Apply case-based rules pairing user × business archetypes: HARSH_CRITIC + POLARIZING venue → pull prediction toward the low end</a:t>
            </a:r>
            <a:endParaRPr lang="en-US" sz="1150" dirty="0"/>
          </a:p>
        </p:txBody>
      </p:sp>
      <p:sp>
        <p:nvSpPr>
          <p:cNvPr id="23" name="Text 21"/>
          <p:cNvSpPr/>
          <p:nvPr/>
        </p:nvSpPr>
        <p:spPr>
          <a:xfrm>
            <a:off x="6483096" y="2468880"/>
            <a:ext cx="347472" cy="457200"/>
          </a:xfrm>
          <a:prstGeom prst="rect">
            <a:avLst/>
          </a:prstGeom>
          <a:noFill/>
          <a:ln/>
        </p:spPr>
        <p:txBody>
          <a:bodyPr wrap="square" rtlCol="0" anchor="ctr"/>
          <a:lstStyle/>
          <a:p>
            <a:pPr marL="0" indent="0" algn="ctr">
              <a:buNone/>
            </a:pPr>
            <a:r>
              <a:rPr lang="en-US" sz="2000" dirty="0">
                <a:solidFill>
                  <a:srgbClr val="64748B"/>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6821424" y="960120"/>
            <a:ext cx="1993392" cy="3794760"/>
          </a:xfrm>
          <a:prstGeom prst="roundRect">
            <a:avLst>
              <a:gd name="adj" fmla="val 5505"/>
            </a:avLst>
          </a:prstGeom>
          <a:solidFill>
            <a:srgbClr val="FDF4FF"/>
          </a:solidFill>
          <a:ln w="12700">
            <a:solidFill>
              <a:srgbClr val="C4B5FD"/>
            </a:solidFill>
            <a:prstDash val="solid"/>
          </a:ln>
          <a:effectLst>
            <a:outerShdw blurRad="63500" dist="25400" dir="2700000" algn="bl" rotWithShape="0">
              <a:srgbClr val="000000">
                <a:alpha val="12000"/>
              </a:srgbClr>
            </a:outerShdw>
          </a:effectLst>
        </p:spPr>
        <p:txBody>
          <a:bodyPr/>
          <a:lstStyle/>
          <a:p>
            <a:endParaRPr lang="en-US"/>
          </a:p>
        </p:txBody>
      </p:sp>
      <p:sp>
        <p:nvSpPr>
          <p:cNvPr id="25" name="Shape 23"/>
          <p:cNvSpPr/>
          <p:nvPr/>
        </p:nvSpPr>
        <p:spPr>
          <a:xfrm>
            <a:off x="7543800" y="1024128"/>
            <a:ext cx="548640" cy="548640"/>
          </a:xfrm>
          <a:prstGeom prst="ellipse">
            <a:avLst/>
          </a:prstGeom>
          <a:solidFill>
            <a:srgbClr val="C4B5FD"/>
          </a:solidFill>
          <a:ln w="12700">
            <a:solidFill>
              <a:srgbClr val="C4B5FD"/>
            </a:solidFill>
            <a:prstDash val="solid"/>
          </a:ln>
        </p:spPr>
        <p:txBody>
          <a:bodyPr/>
          <a:lstStyle/>
          <a:p>
            <a:endParaRPr lang="en-US"/>
          </a:p>
        </p:txBody>
      </p:sp>
      <p:sp>
        <p:nvSpPr>
          <p:cNvPr id="26" name="Text 24"/>
          <p:cNvSpPr/>
          <p:nvPr/>
        </p:nvSpPr>
        <p:spPr>
          <a:xfrm>
            <a:off x="7543800" y="1024128"/>
            <a:ext cx="548640" cy="5486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6821424" y="1664208"/>
            <a:ext cx="1993392" cy="548640"/>
          </a:xfrm>
          <a:prstGeom prst="rect">
            <a:avLst/>
          </a:prstGeom>
          <a:noFill/>
          <a:ln/>
        </p:spPr>
        <p:txBody>
          <a:bodyPr wrap="square" rtlCol="0" anchor="ctr"/>
          <a:lstStyle/>
          <a:p>
            <a:pPr marL="0" indent="0" algn="ctr">
              <a:buNone/>
            </a:pPr>
            <a:r>
              <a:rPr lang="en-US" sz="3000" dirty="0">
                <a:solidFill>
                  <a:srgbClr val="000000"/>
                </a:solidFill>
                <a:latin typeface="Calibri" pitchFamily="34" charset="0"/>
                <a:ea typeface="Calibri" pitchFamily="34" charset="-122"/>
                <a:cs typeface="Calibri" pitchFamily="34" charset="-120"/>
              </a:rPr>
              <a:t>🌱</a:t>
            </a:r>
            <a:endParaRPr lang="en-US" sz="3000" dirty="0"/>
          </a:p>
        </p:txBody>
      </p:sp>
      <p:sp>
        <p:nvSpPr>
          <p:cNvPr id="28" name="Text 26"/>
          <p:cNvSpPr/>
          <p:nvPr/>
        </p:nvSpPr>
        <p:spPr>
          <a:xfrm>
            <a:off x="6903720" y="2267712"/>
            <a:ext cx="1828800" cy="411480"/>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Evolve</a:t>
            </a:r>
            <a:endParaRPr lang="en-US" sz="1600" dirty="0"/>
          </a:p>
        </p:txBody>
      </p:sp>
      <p:sp>
        <p:nvSpPr>
          <p:cNvPr id="29" name="Text 27"/>
          <p:cNvSpPr/>
          <p:nvPr/>
        </p:nvSpPr>
        <p:spPr>
          <a:xfrm>
            <a:off x="6912864" y="2743200"/>
            <a:ext cx="1828800" cy="1920240"/>
          </a:xfrm>
          <a:prstGeom prst="rect">
            <a:avLst/>
          </a:prstGeom>
          <a:noFill/>
          <a:ln/>
        </p:spPr>
        <p:txBody>
          <a:bodyPr wrap="square"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Use OpenEvolve to automatically discover better archetype definitions, thresholds, and rules — run 50 iterations on 3 independent islands</a:t>
            </a:r>
            <a:endParaRPr lang="en-US" sz="1150" dirty="0"/>
          </a:p>
        </p:txBody>
      </p:sp>
      <p:sp>
        <p:nvSpPr>
          <p:cNvPr id="30" name="Text 28"/>
          <p:cNvSpPr/>
          <p:nvPr/>
        </p:nvSpPr>
        <p:spPr>
          <a:xfrm>
            <a:off x="457200" y="4828032"/>
            <a:ext cx="8229600" cy="2743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Steps 3 &amp; 4 are our novelty: the Reasoning Policy is hand-designed as a structured taxonomy, then automatically improved by OpenEvolve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64592"/>
            <a:ext cx="8229600" cy="594360"/>
          </a:xfrm>
          <a:prstGeom prst="rect">
            <a:avLst/>
          </a:prstGeom>
          <a:noFill/>
          <a:ln/>
        </p:spPr>
        <p:txBody>
          <a:bodyPr wrap="square" rtlCol="0" anchor="ctr"/>
          <a:lstStyle/>
          <a:p>
            <a:pPr marL="0" indent="0">
              <a:buNone/>
            </a:pPr>
            <a:r>
              <a:rPr lang="en-US" sz="2900" b="1" dirty="0">
                <a:solidFill>
                  <a:srgbClr val="FFFFFF"/>
                </a:solidFill>
                <a:latin typeface="Cambria" pitchFamily="34" charset="0"/>
                <a:ea typeface="Cambria" pitchFamily="34" charset="-122"/>
                <a:cs typeface="Cambria" pitchFamily="34" charset="-120"/>
              </a:rPr>
              <a:t>Evolutionary LLM Search via OpenEvolve</a:t>
            </a:r>
            <a:endParaRPr lang="en-US" sz="2900" dirty="0"/>
          </a:p>
        </p:txBody>
      </p:sp>
      <p:sp>
        <p:nvSpPr>
          <p:cNvPr id="3" name="Shape 1"/>
          <p:cNvSpPr/>
          <p:nvPr/>
        </p:nvSpPr>
        <p:spPr>
          <a:xfrm>
            <a:off x="365760" y="804672"/>
            <a:ext cx="8412480" cy="685800"/>
          </a:xfrm>
          <a:prstGeom prst="roundRect">
            <a:avLst>
              <a:gd name="adj" fmla="val 13333"/>
            </a:avLst>
          </a:prstGeom>
          <a:solidFill>
            <a:srgbClr val="2D3E9E"/>
          </a:solidFill>
          <a:ln w="12700">
            <a:solidFill>
              <a:srgbClr val="0EA5E9"/>
            </a:solidFill>
            <a:prstDash val="solid"/>
          </a:ln>
        </p:spPr>
        <p:txBody>
          <a:bodyPr/>
          <a:lstStyle/>
          <a:p>
            <a:endParaRPr lang="en-US"/>
          </a:p>
        </p:txBody>
      </p:sp>
      <p:sp>
        <p:nvSpPr>
          <p:cNvPr id="4" name="Text 2"/>
          <p:cNvSpPr/>
          <p:nvPr/>
        </p:nvSpPr>
        <p:spPr>
          <a:xfrm>
            <a:off x="548640" y="822960"/>
            <a:ext cx="8046720" cy="621792"/>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The Concept (Inspired by Google DeepMind's FunSearch): Instead of tuning parameters manually, search the space of policies by using an LLM as the mutator and an automated simulator as the objective judge.</a:t>
            </a:r>
            <a:endParaRPr lang="en-US" sz="1300" dirty="0"/>
          </a:p>
        </p:txBody>
      </p:sp>
      <p:sp>
        <p:nvSpPr>
          <p:cNvPr id="5" name="Shape 3"/>
          <p:cNvSpPr/>
          <p:nvPr/>
        </p:nvSpPr>
        <p:spPr>
          <a:xfrm>
            <a:off x="2560320" y="1581912"/>
            <a:ext cx="4023360" cy="749808"/>
          </a:xfrm>
          <a:prstGeom prst="roundRect">
            <a:avLst>
              <a:gd name="adj" fmla="val 12195"/>
            </a:avLst>
          </a:prstGeom>
          <a:solidFill>
            <a:srgbClr val="0D1B5E"/>
          </a:solidFill>
          <a:ln w="12700">
            <a:solidFill>
              <a:srgbClr val="0EA5E9"/>
            </a:solidFill>
            <a:prstDash val="solid"/>
          </a:ln>
        </p:spPr>
        <p:txBody>
          <a:bodyPr/>
          <a:lstStyle/>
          <a:p>
            <a:endParaRPr lang="en-US"/>
          </a:p>
        </p:txBody>
      </p:sp>
      <p:sp>
        <p:nvSpPr>
          <p:cNvPr id="6" name="Text 4"/>
          <p:cNvSpPr/>
          <p:nvPr/>
        </p:nvSpPr>
        <p:spPr>
          <a:xfrm>
            <a:off x="2560320" y="1581912"/>
            <a:ext cx="4023360" cy="749808"/>
          </a:xfrm>
          <a:prstGeom prst="rect">
            <a:avLst/>
          </a:prstGeom>
          <a:noFill/>
          <a:ln/>
        </p:spPr>
        <p:txBody>
          <a:bodyPr wrap="square" rtlCol="0" anchor="ctr"/>
          <a:lstStyle/>
          <a:p>
            <a:pPr marL="0" indent="0" algn="ctr">
              <a:buNone/>
            </a:pPr>
            <a:r>
              <a:rPr lang="en-US" sz="1900" b="1" i="1" dirty="0">
                <a:solidFill>
                  <a:srgbClr val="FFFFFF"/>
                </a:solidFill>
                <a:latin typeface="Cambria" pitchFamily="34" charset="0"/>
                <a:ea typeface="Cambria" pitchFamily="34" charset="-122"/>
                <a:cs typeface="Cambria" pitchFamily="34" charset="-120"/>
              </a:rPr>
              <a:t>f* = argmax  S(f)  over all  f ∈ F</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2423160"/>
          <a:ext cx="8412480" cy="2414016"/>
        </p:xfrm>
        <a:graphic>
          <a:graphicData uri="http://schemas.openxmlformats.org/drawingml/2006/table">
            <a:tbl>
              <a:tblPr/>
              <a:tblGrid>
                <a:gridCol w="32004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Evolutionary Concept</a:t>
                      </a:r>
                      <a:endParaRPr lang="en-US" sz="13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0D1B5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Means in Our Project</a:t>
                      </a:r>
                      <a:endParaRPr lang="en-US" sz="13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0EA5E9"/>
                    </a:solidFill>
                  </a:tcPr>
                </a:tc>
                <a:extLst>
                  <a:ext uri="{0D108BD9-81ED-4DB2-BD59-A6C34878D82A}">
                    <a16:rowId xmlns:a16="http://schemas.microsoft.com/office/drawing/2014/main" val="10000"/>
                  </a:ext>
                </a:extLst>
              </a:tr>
              <a:tr h="402336">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Candidate program  f</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YAML taxonomy inside agent backstory (archetypes + rules)</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extLst>
                  <a:ext uri="{0D108BD9-81ED-4DB2-BD59-A6C34878D82A}">
                    <a16:rowId xmlns:a16="http://schemas.microsoft.com/office/drawing/2014/main" val="10001"/>
                  </a:ext>
                </a:extLst>
              </a:tr>
              <a:tr h="402336">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Program space  F</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All possible taxonomy configurations OpenEvolve can generate</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extLst>
                  <a:ext uri="{0D108BD9-81ED-4DB2-BD59-A6C34878D82A}">
                    <a16:rowId xmlns:a16="http://schemas.microsoft.com/office/drawing/2014/main" val="10002"/>
                  </a:ext>
                </a:extLst>
              </a:tr>
              <a:tr h="402336">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Evaluator  S(f)</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Simulation score = (preference_estimation + review_generation) / 2</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extLst>
                  <a:ext uri="{0D108BD9-81ED-4DB2-BD59-A6C34878D82A}">
                    <a16:rowId xmlns:a16="http://schemas.microsoft.com/office/drawing/2014/main" val="10003"/>
                  </a:ext>
                </a:extLst>
              </a:tr>
              <a:tr h="402336">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LLM mutator</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minimax-m2.7 via NVIDIA API — rewrites the EVOLVE-BLOCK each iteration</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extLst>
                  <a:ext uri="{0D108BD9-81ED-4DB2-BD59-A6C34878D82A}">
                    <a16:rowId xmlns:a16="http://schemas.microsoft.com/office/drawing/2014/main" val="10004"/>
                  </a:ext>
                </a:extLst>
              </a:tr>
              <a:tr h="402336">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Evolutionary loop</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tc>
                  <a:txBody>
                    <a:bodyPr/>
                    <a:lstStyle/>
                    <a:p>
                      <a:pPr marL="0" indent="0">
                        <a:buNone/>
                      </a:pPr>
                      <a:r>
                        <a:rPr lang="en-US" sz="1200" dirty="0">
                          <a:solidFill>
                            <a:srgbClr val="E2E8F0"/>
                          </a:solidFill>
                          <a:latin typeface="Calibri" pitchFamily="34" charset="0"/>
                          <a:ea typeface="Calibri" pitchFamily="34" charset="-122"/>
                          <a:cs typeface="Calibri" pitchFamily="34" charset="-120"/>
                        </a:rPr>
                        <a:t>OpenEvolve MAP-Elites: 3 islands × 50 iterations = 47 evaluated programs</a:t>
                      </a:r>
                      <a:endParaRPr lang="en-US" sz="1200" dirty="0">
                        <a:latin typeface="Calibri" charset="0"/>
                        <a:ea typeface="Calibri" charset="0"/>
                        <a:cs typeface="Calibri" charset="0"/>
                      </a:endParaRPr>
                    </a:p>
                  </a:txBody>
                  <a:tcPr>
                    <a:lnL w="12700" cap="flat" cmpd="sng" algn="ctr">
                      <a:solidFill>
                        <a:srgbClr val="2D3E9E"/>
                      </a:solidFill>
                      <a:prstDash val="solid"/>
                      <a:round/>
                      <a:headEnd type="none" w="med" len="med"/>
                      <a:tailEnd type="none" w="med" len="med"/>
                    </a:lnL>
                    <a:lnR w="12700" cap="flat" cmpd="sng" algn="ctr">
                      <a:solidFill>
                        <a:srgbClr val="2D3E9E"/>
                      </a:solidFill>
                      <a:prstDash val="solid"/>
                      <a:round/>
                      <a:headEnd type="none" w="med" len="med"/>
                      <a:tailEnd type="none" w="med" len="med"/>
                    </a:lnR>
                    <a:lnT w="12700" cap="flat" cmpd="sng" algn="ctr">
                      <a:solidFill>
                        <a:srgbClr val="2D3E9E"/>
                      </a:solidFill>
                      <a:prstDash val="solid"/>
                      <a:round/>
                      <a:headEnd type="none" w="med" len="med"/>
                      <a:tailEnd type="none" w="med" len="med"/>
                    </a:lnT>
                    <a:lnB w="12700" cap="flat" cmpd="sng" algn="ctr">
                      <a:solidFill>
                        <a:srgbClr val="2D3E9E"/>
                      </a:solidFill>
                      <a:prstDash val="solid"/>
                      <a:round/>
                      <a:headEnd type="none" w="med" len="med"/>
                      <a:tailEnd type="none" w="med" len="med"/>
                    </a:lnB>
                    <a:solidFill>
                      <a:srgbClr val="1A2456"/>
                    </a:solidFill>
                  </a:tcPr>
                </a:tc>
                <a:extLst>
                  <a:ext uri="{0D108BD9-81ED-4DB2-BD59-A6C34878D82A}">
                    <a16:rowId xmlns:a16="http://schemas.microsoft.com/office/drawing/2014/main" val="10005"/>
                  </a:ext>
                </a:extLst>
              </a:tr>
            </a:tbl>
          </a:graphicData>
        </a:graphic>
      </p:graphicFrame>
      <p:sp>
        <p:nvSpPr>
          <p:cNvPr id="8" name="Shape 5"/>
          <p:cNvSpPr/>
          <p:nvPr/>
        </p:nvSpPr>
        <p:spPr>
          <a:xfrm>
            <a:off x="365760" y="4892040"/>
            <a:ext cx="8412480" cy="210312"/>
          </a:xfrm>
          <a:prstGeom prst="roundRect">
            <a:avLst>
              <a:gd name="adj" fmla="val 21739"/>
            </a:avLst>
          </a:prstGeom>
          <a:solidFill>
            <a:srgbClr val="0D1B5E"/>
          </a:solidFill>
          <a:ln w="12700">
            <a:solidFill>
              <a:srgbClr val="2D3E9E"/>
            </a:solidFill>
            <a:prstDash val="solid"/>
          </a:ln>
        </p:spPr>
        <p:txBody>
          <a:bodyPr/>
          <a:lstStyle/>
          <a:p>
            <a:endParaRPr lang="en-US"/>
          </a:p>
        </p:txBody>
      </p:sp>
      <p:sp>
        <p:nvSpPr>
          <p:cNvPr id="9" name="Text 6"/>
          <p:cNvSpPr/>
          <p:nvPr/>
        </p:nvSpPr>
        <p:spPr>
          <a:xfrm>
            <a:off x="457200" y="4892040"/>
            <a:ext cx="8229600" cy="21031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  We used OpenEvolve, an open-source framework designed for this evolutionary methodology. Our contribution: defining what to evolve (the taxonomy) and structuring the search space.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6692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Three-Layer Architecture</a:t>
            </a:r>
            <a:endParaRPr lang="en-US" sz="3000" dirty="0"/>
          </a:p>
        </p:txBody>
      </p:sp>
      <p:sp>
        <p:nvSpPr>
          <p:cNvPr id="3" name="Shape 1"/>
          <p:cNvSpPr/>
          <p:nvPr/>
        </p:nvSpPr>
        <p:spPr>
          <a:xfrm>
            <a:off x="365760" y="804672"/>
            <a:ext cx="8412480" cy="1188720"/>
          </a:xfrm>
          <a:prstGeom prst="roundRect">
            <a:avLst>
              <a:gd name="adj" fmla="val 9231"/>
            </a:avLst>
          </a:prstGeom>
          <a:solidFill>
            <a:srgbClr val="EEF2FF"/>
          </a:solidFill>
          <a:ln w="12700">
            <a:solidFill>
              <a:srgbClr val="0EA5E9"/>
            </a:solidFill>
            <a:prstDash val="solid"/>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548640" y="850392"/>
            <a:ext cx="8046720" cy="384048"/>
          </a:xfrm>
          <a:prstGeom prst="rect">
            <a:avLst/>
          </a:prstGeom>
          <a:noFill/>
          <a:ln/>
        </p:spPr>
        <p:txBody>
          <a:bodyPr wrap="square" rtlCol="0" anchor="ctr"/>
          <a:lstStyle/>
          <a:p>
            <a:pPr marL="0" indent="0">
              <a:buNone/>
            </a:pPr>
            <a:r>
              <a:rPr lang="en-US" sz="1400" b="1" dirty="0">
                <a:solidFill>
                  <a:srgbClr val="0EA5E9"/>
                </a:solidFill>
                <a:latin typeface="Calibri" pitchFamily="34" charset="0"/>
                <a:ea typeface="Calibri" pitchFamily="34" charset="-122"/>
                <a:cs typeface="Calibri" pitchFamily="34" charset="-120"/>
              </a:rPr>
              <a:t>LAYER 1: OpenEvolve — Evolution Engine</a:t>
            </a:r>
            <a:endParaRPr lang="en-US" sz="1400" dirty="0"/>
          </a:p>
        </p:txBody>
      </p:sp>
      <p:sp>
        <p:nvSpPr>
          <p:cNvPr id="5" name="Text 3"/>
          <p:cNvSpPr/>
          <p:nvPr/>
        </p:nvSpPr>
        <p:spPr>
          <a:xfrm>
            <a:off x="548640" y="1234440"/>
            <a:ext cx="8046720" cy="6583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Sample parent YAML  →  LLM mutates EVOLVE-BLOCK  →  Write temp YAML  →  call evaluate()  →  store combined_score in MAP-Elites DB across 3 islands</a:t>
            </a:r>
            <a:endParaRPr lang="en-US" sz="1200" dirty="0"/>
          </a:p>
        </p:txBody>
      </p:sp>
      <p:sp>
        <p:nvSpPr>
          <p:cNvPr id="6" name="Text 4"/>
          <p:cNvSpPr/>
          <p:nvPr/>
        </p:nvSpPr>
        <p:spPr>
          <a:xfrm>
            <a:off x="3200400" y="1993392"/>
            <a:ext cx="2743200"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  passes mutated YAML / {stars, review}</a:t>
            </a:r>
            <a:endParaRPr lang="en-US" sz="1100" dirty="0"/>
          </a:p>
        </p:txBody>
      </p:sp>
      <p:sp>
        <p:nvSpPr>
          <p:cNvPr id="7" name="Shape 5"/>
          <p:cNvSpPr/>
          <p:nvPr/>
        </p:nvSpPr>
        <p:spPr>
          <a:xfrm>
            <a:off x="365760" y="2194560"/>
            <a:ext cx="8412480" cy="1188720"/>
          </a:xfrm>
          <a:prstGeom prst="roundRect">
            <a:avLst>
              <a:gd name="adj" fmla="val 9231"/>
            </a:avLst>
          </a:prstGeom>
          <a:solidFill>
            <a:srgbClr val="F0FDF4"/>
          </a:solidFill>
          <a:ln w="12700">
            <a:solidFill>
              <a:srgbClr val="059669"/>
            </a:solidFill>
            <a:prstDash val="solid"/>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548640" y="2240280"/>
            <a:ext cx="8046720" cy="384048"/>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LAYER 2: CrewAI Multi-Agent System</a:t>
            </a:r>
            <a:endParaRPr lang="en-US" sz="1400" dirty="0"/>
          </a:p>
        </p:txBody>
      </p:sp>
      <p:sp>
        <p:nvSpPr>
          <p:cNvPr id="9" name="Text 7"/>
          <p:cNvSpPr/>
          <p:nvPr/>
        </p:nvSpPr>
        <p:spPr>
          <a:xfrm>
            <a:off x="548640" y="2624328"/>
            <a:ext cx="8046720" cy="6583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agents_evolving.yaml (EVOLVE-BLOCK: persona_classifier + prediction_modeler)  •  tasks.yaml  •  5 agents run sequentially  →  output {stars, review}</a:t>
            </a:r>
            <a:endParaRPr lang="en-US" sz="1200" dirty="0"/>
          </a:p>
        </p:txBody>
      </p:sp>
      <p:sp>
        <p:nvSpPr>
          <p:cNvPr id="10" name="Text 8"/>
          <p:cNvSpPr/>
          <p:nvPr/>
        </p:nvSpPr>
        <p:spPr>
          <a:xfrm>
            <a:off x="3200400" y="3383280"/>
            <a:ext cx="2743200"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  passes mutated YAML / {stars, review}</a:t>
            </a:r>
            <a:endParaRPr lang="en-US" sz="1100" dirty="0"/>
          </a:p>
        </p:txBody>
      </p:sp>
      <p:sp>
        <p:nvSpPr>
          <p:cNvPr id="11" name="Shape 9"/>
          <p:cNvSpPr/>
          <p:nvPr/>
        </p:nvSpPr>
        <p:spPr>
          <a:xfrm>
            <a:off x="365760" y="3584448"/>
            <a:ext cx="8412480" cy="1188720"/>
          </a:xfrm>
          <a:prstGeom prst="roundRect">
            <a:avLst>
              <a:gd name="adj" fmla="val 9231"/>
            </a:avLst>
          </a:prstGeom>
          <a:solidFill>
            <a:srgbClr val="FFF7ED"/>
          </a:solidFill>
          <a:ln w="12700">
            <a:solidFill>
              <a:srgbClr val="D97706"/>
            </a:solidFill>
            <a:prstDash val="solid"/>
          </a:ln>
          <a:effectLst>
            <a:outerShdw blurRad="63500" dist="25400" dir="2700000" algn="bl" rotWithShape="0">
              <a:srgbClr val="000000">
                <a:alpha val="12000"/>
              </a:srgbClr>
            </a:outerShdw>
          </a:effectLst>
        </p:spPr>
        <p:txBody>
          <a:bodyPr/>
          <a:lstStyle/>
          <a:p>
            <a:endParaRPr lang="en-US"/>
          </a:p>
        </p:txBody>
      </p:sp>
      <p:sp>
        <p:nvSpPr>
          <p:cNvPr id="12" name="Text 10"/>
          <p:cNvSpPr/>
          <p:nvPr/>
        </p:nvSpPr>
        <p:spPr>
          <a:xfrm>
            <a:off x="548640" y="3630168"/>
            <a:ext cx="8046720" cy="384048"/>
          </a:xfrm>
          <a:prstGeom prst="rect">
            <a:avLst/>
          </a:prstGeom>
          <a:noFill/>
          <a:ln/>
        </p:spPr>
        <p:txBody>
          <a:bodyPr wrap="square"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LAYER 3: Competition Simulator (Fixed — we cannot modify)</a:t>
            </a:r>
            <a:endParaRPr lang="en-US" sz="1400" dirty="0"/>
          </a:p>
        </p:txBody>
      </p:sp>
      <p:sp>
        <p:nvSpPr>
          <p:cNvPr id="13" name="Text 11"/>
          <p:cNvSpPr/>
          <p:nvPr/>
        </p:nvSpPr>
        <p:spPr>
          <a:xfrm>
            <a:off x="548640" y="4014216"/>
            <a:ext cx="8046720" cy="65836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CacheInteractionTool (LMDB)  •  preference_estimation = 1 − star_MAE  •  review_generation (sentiment + emotion + topic)  •  combined_score = avg of both</a:t>
            </a:r>
            <a:endParaRPr lang="en-US" sz="1200" dirty="0"/>
          </a:p>
        </p:txBody>
      </p:sp>
      <p:sp>
        <p:nvSpPr>
          <p:cNvPr id="14" name="Text 12"/>
          <p:cNvSpPr/>
          <p:nvPr/>
        </p:nvSpPr>
        <p:spPr>
          <a:xfrm>
            <a:off x="365760" y="4864608"/>
            <a:ext cx="8412480" cy="25603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  parallel_evaluations: 1  (serial) — prevents API rate-limit conflicts across the 5-agent crew (max 5 RPM shared)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94360"/>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Core Innovation: Review DNA + Dual-Axis Taxonomy</a:t>
            </a:r>
            <a:endParaRPr lang="en-US" sz="2700" dirty="0"/>
          </a:p>
        </p:txBody>
      </p:sp>
      <p:sp>
        <p:nvSpPr>
          <p:cNvPr id="3" name="Text 1"/>
          <p:cNvSpPr/>
          <p:nvPr/>
        </p:nvSpPr>
        <p:spPr>
          <a:xfrm>
            <a:off x="411480" y="795528"/>
            <a:ext cx="8229600" cy="34747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Instead of free-form agent prompts, we encoded a structured symbolic policy inside the agent backstory — and gave OpenEvolve that policy to evolve.</a:t>
            </a:r>
            <a:endParaRPr lang="en-US" sz="1100" dirty="0"/>
          </a:p>
        </p:txBody>
      </p:sp>
      <p:sp>
        <p:nvSpPr>
          <p:cNvPr id="4" name="Shape 2"/>
          <p:cNvSpPr/>
          <p:nvPr/>
        </p:nvSpPr>
        <p:spPr>
          <a:xfrm>
            <a:off x="274320" y="1143000"/>
            <a:ext cx="4023360" cy="3749040"/>
          </a:xfrm>
          <a:prstGeom prst="roundRect">
            <a:avLst>
              <a:gd name="adj" fmla="val 2927"/>
            </a:avLst>
          </a:prstGeom>
          <a:solidFill>
            <a:srgbClr val="F0FDF4"/>
          </a:solidFill>
          <a:ln w="12700">
            <a:solidFill>
              <a:srgbClr val="86EFAC"/>
            </a:solidFill>
            <a:prstDash val="solid"/>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457200" y="1207008"/>
            <a:ext cx="3657600" cy="457200"/>
          </a:xfrm>
          <a:prstGeom prst="rect">
            <a:avLst/>
          </a:prstGeom>
          <a:noFill/>
          <a:ln/>
        </p:spPr>
        <p:txBody>
          <a:bodyPr wrap="square" rtlCol="0" anchor="ctr"/>
          <a:lstStyle/>
          <a:p>
            <a:pPr marL="0" indent="0">
              <a:buNone/>
            </a:pPr>
            <a:r>
              <a:rPr lang="en-US" sz="1700" b="1" dirty="0">
                <a:solidFill>
                  <a:srgbClr val="059669"/>
                </a:solidFill>
                <a:latin typeface="Cambria" pitchFamily="34" charset="0"/>
                <a:ea typeface="Cambria" pitchFamily="34" charset="-122"/>
                <a:cs typeface="Cambria" pitchFamily="34" charset="-120"/>
              </a:rPr>
              <a:t>🧬  Review DNA</a:t>
            </a:r>
            <a:endParaRPr lang="en-US" sz="1700" dirty="0"/>
          </a:p>
        </p:txBody>
      </p:sp>
      <p:sp>
        <p:nvSpPr>
          <p:cNvPr id="6" name="Text 4"/>
          <p:cNvSpPr/>
          <p:nvPr/>
        </p:nvSpPr>
        <p:spPr>
          <a:xfrm>
            <a:off x="457200" y="1664208"/>
            <a:ext cx="3657600" cy="45720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 structured behavioral fingerprint</a:t>
            </a:r>
            <a:endParaRPr lang="en-US" sz="1200" dirty="0"/>
          </a:p>
          <a:p>
            <a:pPr marL="0" indent="0">
              <a:buNone/>
            </a:pPr>
            <a:r>
              <a:rPr lang="en-US" sz="1200" dirty="0">
                <a:solidFill>
                  <a:srgbClr val="64748B"/>
                </a:solidFill>
                <a:latin typeface="Calibri" pitchFamily="34" charset="0"/>
                <a:ea typeface="Calibri" pitchFamily="34" charset="-122"/>
                <a:cs typeface="Calibri" pitchFamily="34" charset="-120"/>
              </a:rPr>
              <a:t>— NOT just an average star rating</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2176272"/>
          <a:ext cx="3822192" cy="2804160"/>
        </p:xfrm>
        <a:graphic>
          <a:graphicData uri="http://schemas.openxmlformats.org/drawingml/2006/table">
            <a:tbl>
              <a:tblPr/>
              <a:tblGrid>
                <a:gridCol w="1691640">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tblGrid>
              <a:tr h="36576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DNA Field</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059669"/>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It Captures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rating_bias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Offset from 3.5 avg (+0.55 = generous)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complaint_triggers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Specific topics that lower ratings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writing_style</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Tone, length, vocabulary pattern</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negative_review_risk</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LOW/MED/HIGH for THIS business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recency_weight</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Does recent visit dominate? (0.9=yes)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sentiment_velocity</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Is user becoming more/less generous?</a:t>
                      </a:r>
                      <a:endParaRPr lang="en-US" sz="1100" dirty="0">
                        <a:latin typeface="Calibri" charset="0"/>
                        <a:ea typeface="Calibri" charset="0"/>
                        <a:cs typeface="Calibri" charset="0"/>
                      </a:endParaRPr>
                    </a:p>
                  </a:txBody>
                  <a:tcPr>
                    <a:lnL w="6350" cap="flat" cmpd="sng" algn="ctr">
                      <a:solidFill>
                        <a:srgbClr val="86EFAC"/>
                      </a:solidFill>
                      <a:prstDash val="solid"/>
                      <a:round/>
                      <a:headEnd type="none" w="med" len="med"/>
                      <a:tailEnd type="none" w="med" len="med"/>
                    </a:lnL>
                    <a:lnR w="6350" cap="flat" cmpd="sng" algn="ctr">
                      <a:solidFill>
                        <a:srgbClr val="86EFAC"/>
                      </a:solidFill>
                      <a:prstDash val="solid"/>
                      <a:round/>
                      <a:headEnd type="none" w="med" len="med"/>
                      <a:tailEnd type="none" w="med" len="med"/>
                    </a:lnR>
                    <a:lnT w="6350" cap="flat" cmpd="sng" algn="ctr">
                      <a:solidFill>
                        <a:srgbClr val="86EFAC"/>
                      </a:solidFill>
                      <a:prstDash val="solid"/>
                      <a:round/>
                      <a:headEnd type="none" w="med" len="med"/>
                      <a:tailEnd type="none" w="med" len="med"/>
                    </a:lnT>
                    <a:lnB w="6350" cap="flat" cmpd="sng" algn="ctr">
                      <a:solidFill>
                        <a:srgbClr val="86EFA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Shape 5"/>
          <p:cNvSpPr/>
          <p:nvPr/>
        </p:nvSpPr>
        <p:spPr>
          <a:xfrm>
            <a:off x="4434840" y="1143000"/>
            <a:ext cx="4297680" cy="3749040"/>
          </a:xfrm>
          <a:prstGeom prst="roundRect">
            <a:avLst>
              <a:gd name="adj" fmla="val 2927"/>
            </a:avLst>
          </a:prstGeom>
          <a:solidFill>
            <a:srgbClr val="EFF6FF"/>
          </a:solidFill>
          <a:ln w="12700">
            <a:solidFill>
              <a:srgbClr val="93C5FD"/>
            </a:solidFill>
            <a:prstDash val="solid"/>
          </a:ln>
          <a:effectLst>
            <a:outerShdw blurRad="63500" dist="25400" dir="2700000" algn="bl" rotWithShape="0">
              <a:srgbClr val="000000">
                <a:alpha val="12000"/>
              </a:srgbClr>
            </a:outerShdw>
          </a:effectLst>
        </p:spPr>
        <p:txBody>
          <a:bodyPr/>
          <a:lstStyle/>
          <a:p>
            <a:endParaRPr lang="en-US"/>
          </a:p>
        </p:txBody>
      </p:sp>
      <p:sp>
        <p:nvSpPr>
          <p:cNvPr id="9" name="Text 6"/>
          <p:cNvSpPr/>
          <p:nvPr/>
        </p:nvSpPr>
        <p:spPr>
          <a:xfrm>
            <a:off x="4617720" y="1207008"/>
            <a:ext cx="3931920" cy="457200"/>
          </a:xfrm>
          <a:prstGeom prst="rect">
            <a:avLst/>
          </a:prstGeom>
          <a:noFill/>
          <a:ln/>
        </p:spPr>
        <p:txBody>
          <a:bodyPr wrap="square" rtlCol="0" anchor="ctr"/>
          <a:lstStyle/>
          <a:p>
            <a:pPr marL="0" indent="0">
              <a:buNone/>
            </a:pPr>
            <a:r>
              <a:rPr lang="en-US" sz="1700" b="1" dirty="0">
                <a:solidFill>
                  <a:srgbClr val="0EA5E9"/>
                </a:solidFill>
                <a:latin typeface="Cambria" pitchFamily="34" charset="0"/>
                <a:ea typeface="Cambria" pitchFamily="34" charset="-122"/>
                <a:cs typeface="Cambria" pitchFamily="34" charset="-120"/>
              </a:rPr>
              <a:t>⚡  Dual-Axis Classification</a:t>
            </a:r>
            <a:endParaRPr lang="en-US" sz="1700" dirty="0"/>
          </a:p>
        </p:txBody>
      </p:sp>
      <p:sp>
        <p:nvSpPr>
          <p:cNvPr id="10" name="Text 7"/>
          <p:cNvSpPr/>
          <p:nvPr/>
        </p:nvSpPr>
        <p:spPr>
          <a:xfrm>
            <a:off x="4617720" y="1664208"/>
            <a:ext cx="3931920" cy="347472"/>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Classify BOTH user + business → combine via case rules</a:t>
            </a:r>
            <a:endParaRPr lang="en-US" sz="1200" dirty="0"/>
          </a:p>
        </p:txBody>
      </p:sp>
      <p:sp>
        <p:nvSpPr>
          <p:cNvPr id="11" name="Shape 8"/>
          <p:cNvSpPr/>
          <p:nvPr/>
        </p:nvSpPr>
        <p:spPr>
          <a:xfrm>
            <a:off x="4572000" y="2084832"/>
            <a:ext cx="1828800" cy="1554480"/>
          </a:xfrm>
          <a:prstGeom prst="roundRect">
            <a:avLst>
              <a:gd name="adj" fmla="val 4706"/>
            </a:avLst>
          </a:prstGeom>
          <a:solidFill>
            <a:srgbClr val="FFFFFF"/>
          </a:solidFill>
          <a:ln w="12700">
            <a:solidFill>
              <a:srgbClr val="93C5FD"/>
            </a:solidFill>
            <a:prstDash val="solid"/>
          </a:ln>
        </p:spPr>
        <p:txBody>
          <a:bodyPr/>
          <a:lstStyle/>
          <a:p>
            <a:endParaRPr lang="en-US"/>
          </a:p>
        </p:txBody>
      </p:sp>
      <p:sp>
        <p:nvSpPr>
          <p:cNvPr id="12" name="Text 9"/>
          <p:cNvSpPr/>
          <p:nvPr/>
        </p:nvSpPr>
        <p:spPr>
          <a:xfrm>
            <a:off x="4572000" y="2130552"/>
            <a:ext cx="1828800" cy="292608"/>
          </a:xfrm>
          <a:prstGeom prst="rect">
            <a:avLst/>
          </a:prstGeom>
          <a:noFill/>
          <a:ln/>
        </p:spPr>
        <p:txBody>
          <a:bodyPr wrap="square" rtlCol="0" anchor="ctr"/>
          <a:lstStyle/>
          <a:p>
            <a:pPr marL="0" indent="0" algn="ctr">
              <a:buNone/>
            </a:pPr>
            <a:r>
              <a:rPr lang="en-US" sz="1100" b="1" dirty="0">
                <a:solidFill>
                  <a:srgbClr val="0EA5E9"/>
                </a:solidFill>
                <a:latin typeface="Calibri" pitchFamily="34" charset="0"/>
                <a:ea typeface="Calibri" pitchFamily="34" charset="-122"/>
                <a:cs typeface="Calibri" pitchFamily="34" charset="-120"/>
              </a:rPr>
              <a:t>USER AXIS</a:t>
            </a:r>
            <a:endParaRPr lang="en-US" sz="1100" dirty="0"/>
          </a:p>
        </p:txBody>
      </p:sp>
      <p:sp>
        <p:nvSpPr>
          <p:cNvPr id="13" name="Text 10"/>
          <p:cNvSpPr/>
          <p:nvPr/>
        </p:nvSpPr>
        <p:spPr>
          <a:xfrm>
            <a:off x="4645152" y="2450592"/>
            <a:ext cx="1682496" cy="11155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HARSH_CRITIC</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GENEROUS_RATER</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BALANCED</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ELITE_CONNOISSEUR
</a:t>
            </a:r>
            <a:endParaRPr lang="en-US" sz="1050" dirty="0"/>
          </a:p>
          <a:p>
            <a:pPr marL="0" indent="0">
              <a:buNone/>
            </a:pPr>
            <a:r>
              <a:rPr lang="en-US" sz="1050" dirty="0">
                <a:solidFill>
                  <a:srgbClr val="7C3AED"/>
                </a:solidFill>
                <a:latin typeface="Calibri" pitchFamily="34" charset="0"/>
                <a:ea typeface="Calibri" pitchFamily="34" charset="-122"/>
                <a:cs typeface="Calibri" pitchFamily="34" charset="-120"/>
              </a:rPr>
              <a:t>+ evolved types ✨</a:t>
            </a:r>
            <a:endParaRPr lang="en-US" sz="1050" dirty="0"/>
          </a:p>
        </p:txBody>
      </p:sp>
      <p:sp>
        <p:nvSpPr>
          <p:cNvPr id="14" name="Text 11"/>
          <p:cNvSpPr/>
          <p:nvPr/>
        </p:nvSpPr>
        <p:spPr>
          <a:xfrm>
            <a:off x="6455664" y="2514600"/>
            <a:ext cx="411480" cy="530352"/>
          </a:xfrm>
          <a:prstGeom prst="rect">
            <a:avLst/>
          </a:prstGeom>
          <a:noFill/>
          <a:ln/>
        </p:spPr>
        <p:txBody>
          <a:bodyPr wrap="square" rtlCol="0" anchor="ctr"/>
          <a:lstStyle/>
          <a:p>
            <a:pPr marL="0" indent="0" algn="ctr">
              <a:buNone/>
            </a:pPr>
            <a:r>
              <a:rPr lang="en-US" sz="2600" b="1" dirty="0">
                <a:solidFill>
                  <a:srgbClr val="1E2761"/>
                </a:solidFill>
                <a:latin typeface="Cambria" pitchFamily="34" charset="0"/>
                <a:ea typeface="Cambria" pitchFamily="34" charset="-122"/>
                <a:cs typeface="Cambria" pitchFamily="34" charset="-120"/>
              </a:rPr>
              <a:t>×</a:t>
            </a:r>
            <a:endParaRPr lang="en-US" sz="2600" dirty="0"/>
          </a:p>
        </p:txBody>
      </p:sp>
      <p:sp>
        <p:nvSpPr>
          <p:cNvPr id="15" name="Shape 12"/>
          <p:cNvSpPr/>
          <p:nvPr/>
        </p:nvSpPr>
        <p:spPr>
          <a:xfrm>
            <a:off x="6903720" y="2084832"/>
            <a:ext cx="1719072" cy="1554480"/>
          </a:xfrm>
          <a:prstGeom prst="roundRect">
            <a:avLst>
              <a:gd name="adj" fmla="val 4706"/>
            </a:avLst>
          </a:prstGeom>
          <a:solidFill>
            <a:srgbClr val="FFFFFF"/>
          </a:solidFill>
          <a:ln w="12700">
            <a:solidFill>
              <a:srgbClr val="FCD34D"/>
            </a:solidFill>
            <a:prstDash val="solid"/>
          </a:ln>
        </p:spPr>
        <p:txBody>
          <a:bodyPr/>
          <a:lstStyle/>
          <a:p>
            <a:endParaRPr lang="en-US"/>
          </a:p>
        </p:txBody>
      </p:sp>
      <p:sp>
        <p:nvSpPr>
          <p:cNvPr id="16" name="Text 13"/>
          <p:cNvSpPr/>
          <p:nvPr/>
        </p:nvSpPr>
        <p:spPr>
          <a:xfrm>
            <a:off x="6903720" y="2130552"/>
            <a:ext cx="1719072" cy="292608"/>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ITEM AXIS</a:t>
            </a:r>
            <a:endParaRPr lang="en-US" sz="1100" dirty="0"/>
          </a:p>
        </p:txBody>
      </p:sp>
      <p:sp>
        <p:nvSpPr>
          <p:cNvPr id="17" name="Text 14"/>
          <p:cNvSpPr/>
          <p:nvPr/>
        </p:nvSpPr>
        <p:spPr>
          <a:xfrm>
            <a:off x="6967728" y="2450592"/>
            <a:ext cx="1554480" cy="111556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CONSISTENT_FAV</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POLARIZING</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DECLINING_QUAL</a:t>
            </a:r>
            <a:endParaRPr lang="en-US" sz="1050" dirty="0"/>
          </a:p>
          <a:p>
            <a:pPr marL="0" indent="0">
              <a:buNone/>
            </a:pPr>
            <a:r>
              <a:rPr lang="en-US" sz="1050" dirty="0">
                <a:solidFill>
                  <a:srgbClr val="1E293B"/>
                </a:solidFill>
                <a:latin typeface="Calibri" pitchFamily="34" charset="0"/>
                <a:ea typeface="Calibri" pitchFamily="34" charset="-122"/>
                <a:cs typeface="Calibri" pitchFamily="34" charset="-120"/>
              </a:rPr>
              <a:t>• AVERAGE
</a:t>
            </a:r>
            <a:endParaRPr lang="en-US" sz="1050" dirty="0"/>
          </a:p>
          <a:p>
            <a:pPr marL="0" indent="0">
              <a:buNone/>
            </a:pPr>
            <a:r>
              <a:rPr lang="en-US" sz="1050" dirty="0">
                <a:solidFill>
                  <a:srgbClr val="7C3AED"/>
                </a:solidFill>
                <a:latin typeface="Calibri" pitchFamily="34" charset="0"/>
                <a:ea typeface="Calibri" pitchFamily="34" charset="-122"/>
                <a:cs typeface="Calibri" pitchFamily="34" charset="-120"/>
              </a:rPr>
              <a:t>+ evolved types ✨</a:t>
            </a:r>
            <a:endParaRPr lang="en-US" sz="1050" dirty="0"/>
          </a:p>
        </p:txBody>
      </p:sp>
      <p:sp>
        <p:nvSpPr>
          <p:cNvPr id="18" name="Text 15"/>
          <p:cNvSpPr/>
          <p:nvPr/>
        </p:nvSpPr>
        <p:spPr>
          <a:xfrm>
            <a:off x="4572000" y="3675888"/>
            <a:ext cx="3931920" cy="27432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 intersection</a:t>
            </a:r>
            <a:endParaRPr lang="en-US" sz="1100" dirty="0"/>
          </a:p>
        </p:txBody>
      </p:sp>
      <p:sp>
        <p:nvSpPr>
          <p:cNvPr id="19" name="Shape 16"/>
          <p:cNvSpPr/>
          <p:nvPr/>
        </p:nvSpPr>
        <p:spPr>
          <a:xfrm>
            <a:off x="4572000" y="3977640"/>
            <a:ext cx="3931920" cy="777240"/>
          </a:xfrm>
          <a:prstGeom prst="roundRect">
            <a:avLst>
              <a:gd name="adj" fmla="val 9412"/>
            </a:avLst>
          </a:prstGeom>
          <a:solidFill>
            <a:srgbClr val="7C3AED">
              <a:alpha val="18000"/>
            </a:srgbClr>
          </a:solidFill>
          <a:ln w="12700">
            <a:solidFill>
              <a:srgbClr val="7C3AED"/>
            </a:solidFill>
            <a:prstDash val="solid"/>
          </a:ln>
        </p:spPr>
        <p:txBody>
          <a:bodyPr/>
          <a:lstStyle/>
          <a:p>
            <a:endParaRPr lang="en-US"/>
          </a:p>
        </p:txBody>
      </p:sp>
      <p:sp>
        <p:nvSpPr>
          <p:cNvPr id="20" name="Text 17"/>
          <p:cNvSpPr/>
          <p:nvPr/>
        </p:nvSpPr>
        <p:spPr>
          <a:xfrm>
            <a:off x="4663440" y="4005072"/>
            <a:ext cx="3749040" cy="713232"/>
          </a:xfrm>
          <a:prstGeom prst="rect">
            <a:avLst/>
          </a:prstGeom>
          <a:noFill/>
          <a:ln/>
        </p:spPr>
        <p:txBody>
          <a:bodyPr wrap="square" rtlCol="0" anchor="ctr"/>
          <a:lstStyle/>
          <a:p>
            <a:pPr marL="0" indent="0" algn="ctr">
              <a:buNone/>
            </a:pPr>
            <a:r>
              <a:rPr lang="en-US" sz="1100" dirty="0">
                <a:solidFill>
                  <a:srgbClr val="7C3AED"/>
                </a:solidFill>
                <a:latin typeface="Calibri" pitchFamily="34" charset="0"/>
                <a:ea typeface="Calibri" pitchFamily="34" charset="-122"/>
                <a:cs typeface="Calibri" pitchFamily="34" charset="-120"/>
              </a:rPr>
              <a:t>CASE-BASED RULES</a:t>
            </a:r>
            <a:endParaRPr lang="en-US" sz="1100" dirty="0"/>
          </a:p>
          <a:p>
            <a:pPr marL="0" indent="0" algn="ctr">
              <a:buNone/>
            </a:pPr>
            <a:r>
              <a:rPr lang="en-US" sz="1100" dirty="0">
                <a:solidFill>
                  <a:srgbClr val="7C3AED"/>
                </a:solidFill>
                <a:latin typeface="Calibri" pitchFamily="34" charset="0"/>
                <a:ea typeface="Calibri" pitchFamily="34" charset="-122"/>
                <a:cs typeface="Calibri" pitchFamily="34" charset="-120"/>
              </a:rPr>
              <a:t>HARSH_CRITIC × POLARIZING → 2.5–3.5★  |  TREND_FOLLOWER × CONSISTENT_FAV → boost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37160"/>
            <a:ext cx="6858000" cy="566928"/>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Gen 0: The Hand-Designed Seed — f₀</a:t>
            </a:r>
            <a:endParaRPr lang="en-US" sz="2800" dirty="0"/>
          </a:p>
        </p:txBody>
      </p:sp>
      <p:sp>
        <p:nvSpPr>
          <p:cNvPr id="3" name="Shape 1"/>
          <p:cNvSpPr/>
          <p:nvPr/>
        </p:nvSpPr>
        <p:spPr>
          <a:xfrm>
            <a:off x="7406640" y="137160"/>
            <a:ext cx="1371600" cy="566928"/>
          </a:xfrm>
          <a:prstGeom prst="roundRect">
            <a:avLst>
              <a:gd name="adj" fmla="val 16129"/>
            </a:avLst>
          </a:prstGeom>
          <a:solidFill>
            <a:srgbClr val="EFF6FF"/>
          </a:solidFill>
          <a:ln w="12700">
            <a:solidFill>
              <a:srgbClr val="0EA5E9"/>
            </a:solidFill>
            <a:prstDash val="solid"/>
          </a:ln>
        </p:spPr>
        <p:txBody>
          <a:bodyPr/>
          <a:lstStyle/>
          <a:p>
            <a:endParaRPr lang="en-US"/>
          </a:p>
        </p:txBody>
      </p:sp>
      <p:sp>
        <p:nvSpPr>
          <p:cNvPr id="4" name="Text 2"/>
          <p:cNvSpPr/>
          <p:nvPr/>
        </p:nvSpPr>
        <p:spPr>
          <a:xfrm>
            <a:off x="7406640" y="137160"/>
            <a:ext cx="1371600" cy="566928"/>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Score: 0.8614</a:t>
            </a:r>
            <a:endParaRPr lang="en-US" sz="1300" dirty="0"/>
          </a:p>
        </p:txBody>
      </p:sp>
      <p:sp>
        <p:nvSpPr>
          <p:cNvPr id="5" name="Text 3"/>
          <p:cNvSpPr/>
          <p:nvPr/>
        </p:nvSpPr>
        <p:spPr>
          <a:xfrm>
            <a:off x="457200" y="713232"/>
            <a:ext cx="822960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Program 95465d89  |  Gen 0  |  Island 0  |  This is f₀ — the initial starting point before OpenEvolve touches anything</a:t>
            </a:r>
            <a:endParaRPr lang="en-US" sz="1200" dirty="0"/>
          </a:p>
        </p:txBody>
      </p:sp>
      <p:sp>
        <p:nvSpPr>
          <p:cNvPr id="6" name="Shape 4"/>
          <p:cNvSpPr/>
          <p:nvPr/>
        </p:nvSpPr>
        <p:spPr>
          <a:xfrm>
            <a:off x="274320" y="1097280"/>
            <a:ext cx="2697480" cy="3840480"/>
          </a:xfrm>
          <a:prstGeom prst="roundRect">
            <a:avLst>
              <a:gd name="adj" fmla="val 4068"/>
            </a:avLst>
          </a:prstGeom>
          <a:solidFill>
            <a:srgbClr val="EFF6FF"/>
          </a:solidFill>
          <a:ln w="12700">
            <a:solidFill>
              <a:srgbClr val="93C5FD"/>
            </a:solidFill>
            <a:prstDash val="solid"/>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365760" y="1161288"/>
            <a:ext cx="2514600" cy="365760"/>
          </a:xfrm>
          <a:prstGeom prst="rect">
            <a:avLst/>
          </a:prstGeom>
          <a:noFill/>
          <a:ln/>
        </p:spPr>
        <p:txBody>
          <a:bodyPr wrap="square"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 USER TYPES (4)</a:t>
            </a:r>
            <a:endParaRPr lang="en-US" sz="1300" dirty="0"/>
          </a:p>
        </p:txBody>
      </p:sp>
      <p:sp>
        <p:nvSpPr>
          <p:cNvPr id="8" name="Shape 6"/>
          <p:cNvSpPr/>
          <p:nvPr/>
        </p:nvSpPr>
        <p:spPr>
          <a:xfrm>
            <a:off x="411480" y="1600200"/>
            <a:ext cx="2423160" cy="694944"/>
          </a:xfrm>
          <a:prstGeom prst="roundRect">
            <a:avLst>
              <a:gd name="adj" fmla="val 9211"/>
            </a:avLst>
          </a:prstGeom>
          <a:solidFill>
            <a:srgbClr val="FFFFFF"/>
          </a:solidFill>
          <a:ln w="12700">
            <a:solidFill>
              <a:srgbClr val="CBD5E1"/>
            </a:solidFill>
            <a:prstDash val="solid"/>
          </a:ln>
        </p:spPr>
        <p:txBody>
          <a:bodyPr/>
          <a:lstStyle/>
          <a:p>
            <a:endParaRPr lang="en-US"/>
          </a:p>
        </p:txBody>
      </p:sp>
      <p:sp>
        <p:nvSpPr>
          <p:cNvPr id="9" name="Text 7"/>
          <p:cNvSpPr/>
          <p:nvPr/>
        </p:nvSpPr>
        <p:spPr>
          <a:xfrm>
            <a:off x="502920" y="1645920"/>
            <a:ext cx="224028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TYPE_A: HARSH_CRITIC</a:t>
            </a:r>
            <a:endParaRPr lang="en-US" sz="1100" dirty="0"/>
          </a:p>
        </p:txBody>
      </p:sp>
      <p:sp>
        <p:nvSpPr>
          <p:cNvPr id="10" name="Text 8"/>
          <p:cNvSpPr/>
          <p:nvPr/>
        </p:nvSpPr>
        <p:spPr>
          <a:xfrm>
            <a:off x="502920" y="1920240"/>
            <a:ext cx="224028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Drops stars on any complaint</a:t>
            </a:r>
            <a:endParaRPr lang="en-US" sz="1050" dirty="0"/>
          </a:p>
        </p:txBody>
      </p:sp>
      <p:sp>
        <p:nvSpPr>
          <p:cNvPr id="11" name="Shape 9"/>
          <p:cNvSpPr/>
          <p:nvPr/>
        </p:nvSpPr>
        <p:spPr>
          <a:xfrm>
            <a:off x="411480" y="2386584"/>
            <a:ext cx="2423160" cy="694944"/>
          </a:xfrm>
          <a:prstGeom prst="roundRect">
            <a:avLst>
              <a:gd name="adj" fmla="val 9211"/>
            </a:avLst>
          </a:prstGeom>
          <a:solidFill>
            <a:srgbClr val="FFFFFF"/>
          </a:solidFill>
          <a:ln w="12700">
            <a:solidFill>
              <a:srgbClr val="CBD5E1"/>
            </a:solidFill>
            <a:prstDash val="solid"/>
          </a:ln>
        </p:spPr>
        <p:txBody>
          <a:bodyPr/>
          <a:lstStyle/>
          <a:p>
            <a:endParaRPr lang="en-US"/>
          </a:p>
        </p:txBody>
      </p:sp>
      <p:sp>
        <p:nvSpPr>
          <p:cNvPr id="12" name="Text 10"/>
          <p:cNvSpPr/>
          <p:nvPr/>
        </p:nvSpPr>
        <p:spPr>
          <a:xfrm>
            <a:off x="502920" y="2432304"/>
            <a:ext cx="224028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TYPE_B: GENEROUS_RATER</a:t>
            </a:r>
            <a:endParaRPr lang="en-US" sz="1100" dirty="0"/>
          </a:p>
        </p:txBody>
      </p:sp>
      <p:sp>
        <p:nvSpPr>
          <p:cNvPr id="13" name="Text 11"/>
          <p:cNvSpPr/>
          <p:nvPr/>
        </p:nvSpPr>
        <p:spPr>
          <a:xfrm>
            <a:off x="502920" y="2706624"/>
            <a:ext cx="224028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Defaults 4–5★, high tolerance</a:t>
            </a:r>
            <a:endParaRPr lang="en-US" sz="1050" dirty="0"/>
          </a:p>
        </p:txBody>
      </p:sp>
      <p:sp>
        <p:nvSpPr>
          <p:cNvPr id="14" name="Shape 12"/>
          <p:cNvSpPr/>
          <p:nvPr/>
        </p:nvSpPr>
        <p:spPr>
          <a:xfrm>
            <a:off x="411480" y="3172968"/>
            <a:ext cx="2423160" cy="694944"/>
          </a:xfrm>
          <a:prstGeom prst="roundRect">
            <a:avLst>
              <a:gd name="adj" fmla="val 9211"/>
            </a:avLst>
          </a:prstGeom>
          <a:solidFill>
            <a:srgbClr val="FFFFFF"/>
          </a:solidFill>
          <a:ln w="12700">
            <a:solidFill>
              <a:srgbClr val="CBD5E1"/>
            </a:solidFill>
            <a:prstDash val="solid"/>
          </a:ln>
        </p:spPr>
        <p:txBody>
          <a:bodyPr/>
          <a:lstStyle/>
          <a:p>
            <a:endParaRPr lang="en-US"/>
          </a:p>
        </p:txBody>
      </p:sp>
      <p:sp>
        <p:nvSpPr>
          <p:cNvPr id="15" name="Text 13"/>
          <p:cNvSpPr/>
          <p:nvPr/>
        </p:nvSpPr>
        <p:spPr>
          <a:xfrm>
            <a:off x="502920" y="3218688"/>
            <a:ext cx="224028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TYPE_C: BALANCED</a:t>
            </a:r>
            <a:endParaRPr lang="en-US" sz="1100" dirty="0"/>
          </a:p>
        </p:txBody>
      </p:sp>
      <p:sp>
        <p:nvSpPr>
          <p:cNvPr id="16" name="Text 14"/>
          <p:cNvSpPr/>
          <p:nvPr/>
        </p:nvSpPr>
        <p:spPr>
          <a:xfrm>
            <a:off x="502920" y="3493008"/>
            <a:ext cx="224028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Proportional across all factors</a:t>
            </a:r>
            <a:endParaRPr lang="en-US" sz="1050" dirty="0"/>
          </a:p>
        </p:txBody>
      </p:sp>
      <p:sp>
        <p:nvSpPr>
          <p:cNvPr id="17" name="Shape 15"/>
          <p:cNvSpPr/>
          <p:nvPr/>
        </p:nvSpPr>
        <p:spPr>
          <a:xfrm>
            <a:off x="411480" y="3959352"/>
            <a:ext cx="2423160" cy="694944"/>
          </a:xfrm>
          <a:prstGeom prst="roundRect">
            <a:avLst>
              <a:gd name="adj" fmla="val 9211"/>
            </a:avLst>
          </a:prstGeom>
          <a:solidFill>
            <a:srgbClr val="FFFFFF"/>
          </a:solidFill>
          <a:ln w="12700">
            <a:solidFill>
              <a:srgbClr val="CBD5E1"/>
            </a:solidFill>
            <a:prstDash val="solid"/>
          </a:ln>
        </p:spPr>
        <p:txBody>
          <a:bodyPr/>
          <a:lstStyle/>
          <a:p>
            <a:endParaRPr lang="en-US"/>
          </a:p>
        </p:txBody>
      </p:sp>
      <p:sp>
        <p:nvSpPr>
          <p:cNvPr id="18" name="Text 16"/>
          <p:cNvSpPr/>
          <p:nvPr/>
        </p:nvSpPr>
        <p:spPr>
          <a:xfrm>
            <a:off x="502920" y="4005072"/>
            <a:ext cx="224028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TYPE_D: ELITE_CONNOISSEUR</a:t>
            </a:r>
            <a:endParaRPr lang="en-US" sz="1100" dirty="0"/>
          </a:p>
        </p:txBody>
      </p:sp>
      <p:sp>
        <p:nvSpPr>
          <p:cNvPr id="19" name="Text 17"/>
          <p:cNvSpPr/>
          <p:nvPr/>
        </p:nvSpPr>
        <p:spPr>
          <a:xfrm>
            <a:off x="502920" y="4279392"/>
            <a:ext cx="224028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Stricter than average standards</a:t>
            </a:r>
            <a:endParaRPr lang="en-US" sz="1050" dirty="0"/>
          </a:p>
        </p:txBody>
      </p:sp>
      <p:sp>
        <p:nvSpPr>
          <p:cNvPr id="20" name="Shape 18"/>
          <p:cNvSpPr/>
          <p:nvPr/>
        </p:nvSpPr>
        <p:spPr>
          <a:xfrm>
            <a:off x="3108960" y="1097280"/>
            <a:ext cx="2697480" cy="3840480"/>
          </a:xfrm>
          <a:prstGeom prst="roundRect">
            <a:avLst>
              <a:gd name="adj" fmla="val 4068"/>
            </a:avLst>
          </a:prstGeom>
          <a:solidFill>
            <a:srgbClr val="FFF7ED"/>
          </a:solidFill>
          <a:ln w="12700">
            <a:solidFill>
              <a:srgbClr val="FCD34D"/>
            </a:solidFill>
            <a:prstDash val="solid"/>
          </a:ln>
          <a:effectLst>
            <a:outerShdw blurRad="63500" dist="25400" dir="2700000" algn="bl" rotWithShape="0">
              <a:srgbClr val="000000">
                <a:alpha val="12000"/>
              </a:srgbClr>
            </a:outerShdw>
          </a:effectLst>
        </p:spPr>
        <p:txBody>
          <a:bodyPr/>
          <a:lstStyle/>
          <a:p>
            <a:endParaRPr lang="en-US"/>
          </a:p>
        </p:txBody>
      </p:sp>
      <p:sp>
        <p:nvSpPr>
          <p:cNvPr id="21" name="Text 19"/>
          <p:cNvSpPr/>
          <p:nvPr/>
        </p:nvSpPr>
        <p:spPr>
          <a:xfrm>
            <a:off x="3200400" y="1161288"/>
            <a:ext cx="2514600" cy="365760"/>
          </a:xfrm>
          <a:prstGeom prst="rect">
            <a:avLst/>
          </a:prstGeom>
          <a:noFill/>
          <a:ln/>
        </p:spPr>
        <p:txBody>
          <a:bodyPr wrap="square"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 ITEM TYPES (5)</a:t>
            </a:r>
            <a:endParaRPr lang="en-US" sz="1300" dirty="0"/>
          </a:p>
        </p:txBody>
      </p:sp>
      <p:sp>
        <p:nvSpPr>
          <p:cNvPr id="22" name="Shape 20"/>
          <p:cNvSpPr/>
          <p:nvPr/>
        </p:nvSpPr>
        <p:spPr>
          <a:xfrm>
            <a:off x="3246120" y="1600200"/>
            <a:ext cx="2423160" cy="548640"/>
          </a:xfrm>
          <a:prstGeom prst="roundRect">
            <a:avLst>
              <a:gd name="adj" fmla="val 11667"/>
            </a:avLst>
          </a:prstGeom>
          <a:solidFill>
            <a:srgbClr val="FFFFFF"/>
          </a:solidFill>
          <a:ln w="12700">
            <a:solidFill>
              <a:srgbClr val="FDE68A"/>
            </a:solidFill>
            <a:prstDash val="solid"/>
          </a:ln>
        </p:spPr>
        <p:txBody>
          <a:bodyPr/>
          <a:lstStyle/>
          <a:p>
            <a:endParaRPr lang="en-US"/>
          </a:p>
        </p:txBody>
      </p:sp>
      <p:sp>
        <p:nvSpPr>
          <p:cNvPr id="23" name="Text 21"/>
          <p:cNvSpPr/>
          <p:nvPr/>
        </p:nvSpPr>
        <p:spPr>
          <a:xfrm>
            <a:off x="3337560" y="1627632"/>
            <a:ext cx="2240280" cy="24688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CONSISTENT_FAV</a:t>
            </a:r>
            <a:endParaRPr lang="en-US" sz="1100" dirty="0"/>
          </a:p>
        </p:txBody>
      </p:sp>
      <p:sp>
        <p:nvSpPr>
          <p:cNvPr id="24" name="Text 22"/>
          <p:cNvSpPr/>
          <p:nvPr/>
        </p:nvSpPr>
        <p:spPr>
          <a:xfrm>
            <a:off x="3337560" y="1874520"/>
            <a:ext cx="224028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&gt;65% 4–5★, low variance → 4.5–5.0</a:t>
            </a:r>
            <a:endParaRPr lang="en-US" sz="1000" dirty="0"/>
          </a:p>
        </p:txBody>
      </p:sp>
      <p:sp>
        <p:nvSpPr>
          <p:cNvPr id="25" name="Shape 23"/>
          <p:cNvSpPr/>
          <p:nvPr/>
        </p:nvSpPr>
        <p:spPr>
          <a:xfrm>
            <a:off x="3246120" y="2240280"/>
            <a:ext cx="2423160" cy="548640"/>
          </a:xfrm>
          <a:prstGeom prst="roundRect">
            <a:avLst>
              <a:gd name="adj" fmla="val 11667"/>
            </a:avLst>
          </a:prstGeom>
          <a:solidFill>
            <a:srgbClr val="FFFFFF"/>
          </a:solidFill>
          <a:ln w="12700">
            <a:solidFill>
              <a:srgbClr val="FDE68A"/>
            </a:solidFill>
            <a:prstDash val="solid"/>
          </a:ln>
        </p:spPr>
        <p:txBody>
          <a:bodyPr/>
          <a:lstStyle/>
          <a:p>
            <a:endParaRPr lang="en-US"/>
          </a:p>
        </p:txBody>
      </p:sp>
      <p:sp>
        <p:nvSpPr>
          <p:cNvPr id="26" name="Text 24"/>
          <p:cNvSpPr/>
          <p:nvPr/>
        </p:nvSpPr>
        <p:spPr>
          <a:xfrm>
            <a:off x="3337560" y="2267712"/>
            <a:ext cx="2240280" cy="24688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POLARIZING</a:t>
            </a:r>
            <a:endParaRPr lang="en-US" sz="1100" dirty="0"/>
          </a:p>
        </p:txBody>
      </p:sp>
      <p:sp>
        <p:nvSpPr>
          <p:cNvPr id="27" name="Text 25"/>
          <p:cNvSpPr/>
          <p:nvPr/>
        </p:nvSpPr>
        <p:spPr>
          <a:xfrm>
            <a:off x="3337560" y="2514600"/>
            <a:ext cx="224028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High 5★ AND high 1–2★ → middle</a:t>
            </a:r>
            <a:endParaRPr lang="en-US" sz="1000" dirty="0"/>
          </a:p>
        </p:txBody>
      </p:sp>
      <p:sp>
        <p:nvSpPr>
          <p:cNvPr id="28" name="Shape 26"/>
          <p:cNvSpPr/>
          <p:nvPr/>
        </p:nvSpPr>
        <p:spPr>
          <a:xfrm>
            <a:off x="3246120" y="2880360"/>
            <a:ext cx="2423160" cy="548640"/>
          </a:xfrm>
          <a:prstGeom prst="roundRect">
            <a:avLst>
              <a:gd name="adj" fmla="val 11667"/>
            </a:avLst>
          </a:prstGeom>
          <a:solidFill>
            <a:srgbClr val="FFFFFF"/>
          </a:solidFill>
          <a:ln w="12700">
            <a:solidFill>
              <a:srgbClr val="FDE68A"/>
            </a:solidFill>
            <a:prstDash val="solid"/>
          </a:ln>
        </p:spPr>
        <p:txBody>
          <a:bodyPr/>
          <a:lstStyle/>
          <a:p>
            <a:endParaRPr lang="en-US"/>
          </a:p>
        </p:txBody>
      </p:sp>
      <p:sp>
        <p:nvSpPr>
          <p:cNvPr id="29" name="Text 27"/>
          <p:cNvSpPr/>
          <p:nvPr/>
        </p:nvSpPr>
        <p:spPr>
          <a:xfrm>
            <a:off x="3337560" y="2907792"/>
            <a:ext cx="2240280" cy="24688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DECLINING_QUAL</a:t>
            </a:r>
            <a:endParaRPr lang="en-US" sz="1100" dirty="0"/>
          </a:p>
        </p:txBody>
      </p:sp>
      <p:sp>
        <p:nvSpPr>
          <p:cNvPr id="30" name="Text 28"/>
          <p:cNvSpPr/>
          <p:nvPr/>
        </p:nvSpPr>
        <p:spPr>
          <a:xfrm>
            <a:off x="3337560" y="3154680"/>
            <a:ext cx="224028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Recent reviews lower → adjust down</a:t>
            </a:r>
            <a:endParaRPr lang="en-US" sz="1000" dirty="0"/>
          </a:p>
        </p:txBody>
      </p:sp>
      <p:sp>
        <p:nvSpPr>
          <p:cNvPr id="31" name="Shape 29"/>
          <p:cNvSpPr/>
          <p:nvPr/>
        </p:nvSpPr>
        <p:spPr>
          <a:xfrm>
            <a:off x="3246120" y="3520440"/>
            <a:ext cx="2423160" cy="548640"/>
          </a:xfrm>
          <a:prstGeom prst="roundRect">
            <a:avLst>
              <a:gd name="adj" fmla="val 11667"/>
            </a:avLst>
          </a:prstGeom>
          <a:solidFill>
            <a:srgbClr val="FFFFFF"/>
          </a:solidFill>
          <a:ln w="12700">
            <a:solidFill>
              <a:srgbClr val="FDE68A"/>
            </a:solidFill>
            <a:prstDash val="solid"/>
          </a:ln>
        </p:spPr>
        <p:txBody>
          <a:bodyPr/>
          <a:lstStyle/>
          <a:p>
            <a:endParaRPr lang="en-US"/>
          </a:p>
        </p:txBody>
      </p:sp>
      <p:sp>
        <p:nvSpPr>
          <p:cNvPr id="32" name="Text 30"/>
          <p:cNvSpPr/>
          <p:nvPr/>
        </p:nvSpPr>
        <p:spPr>
          <a:xfrm>
            <a:off x="3337560" y="3547872"/>
            <a:ext cx="2240280" cy="24688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NICHE_SPECIALIST</a:t>
            </a:r>
            <a:endParaRPr lang="en-US" sz="1100" dirty="0"/>
          </a:p>
        </p:txBody>
      </p:sp>
      <p:sp>
        <p:nvSpPr>
          <p:cNvPr id="33" name="Text 31"/>
          <p:cNvSpPr/>
          <p:nvPr/>
        </p:nvSpPr>
        <p:spPr>
          <a:xfrm>
            <a:off x="3337560" y="3794760"/>
            <a:ext cx="224028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High stars, specific audience</a:t>
            </a:r>
            <a:endParaRPr lang="en-US" sz="1000" dirty="0"/>
          </a:p>
        </p:txBody>
      </p:sp>
      <p:sp>
        <p:nvSpPr>
          <p:cNvPr id="34" name="Shape 32"/>
          <p:cNvSpPr/>
          <p:nvPr/>
        </p:nvSpPr>
        <p:spPr>
          <a:xfrm>
            <a:off x="3246120" y="4160520"/>
            <a:ext cx="2423160" cy="548640"/>
          </a:xfrm>
          <a:prstGeom prst="roundRect">
            <a:avLst>
              <a:gd name="adj" fmla="val 11667"/>
            </a:avLst>
          </a:prstGeom>
          <a:solidFill>
            <a:srgbClr val="FFFFFF"/>
          </a:solidFill>
          <a:ln w="12700">
            <a:solidFill>
              <a:srgbClr val="FDE68A"/>
            </a:solidFill>
            <a:prstDash val="solid"/>
          </a:ln>
        </p:spPr>
        <p:txBody>
          <a:bodyPr/>
          <a:lstStyle/>
          <a:p>
            <a:endParaRPr lang="en-US"/>
          </a:p>
        </p:txBody>
      </p:sp>
      <p:sp>
        <p:nvSpPr>
          <p:cNvPr id="35" name="Text 33"/>
          <p:cNvSpPr/>
          <p:nvPr/>
        </p:nvSpPr>
        <p:spPr>
          <a:xfrm>
            <a:off x="3337560" y="4187952"/>
            <a:ext cx="2240280" cy="246888"/>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AVERAGE_PERFORMER</a:t>
            </a:r>
            <a:endParaRPr lang="en-US" sz="1100" dirty="0"/>
          </a:p>
        </p:txBody>
      </p:sp>
      <p:sp>
        <p:nvSpPr>
          <p:cNvPr id="36" name="Text 34"/>
          <p:cNvSpPr/>
          <p:nvPr/>
        </p:nvSpPr>
        <p:spPr>
          <a:xfrm>
            <a:off x="3337560" y="4434840"/>
            <a:ext cx="2240280" cy="22860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3–4★ no strong signal → 3–4</a:t>
            </a:r>
            <a:endParaRPr lang="en-US" sz="1000" dirty="0"/>
          </a:p>
        </p:txBody>
      </p:sp>
      <p:sp>
        <p:nvSpPr>
          <p:cNvPr id="37" name="Shape 35"/>
          <p:cNvSpPr/>
          <p:nvPr/>
        </p:nvSpPr>
        <p:spPr>
          <a:xfrm>
            <a:off x="5943600" y="1097280"/>
            <a:ext cx="2834640" cy="3840480"/>
          </a:xfrm>
          <a:prstGeom prst="roundRect">
            <a:avLst>
              <a:gd name="adj" fmla="val 3871"/>
            </a:avLst>
          </a:prstGeom>
          <a:solidFill>
            <a:srgbClr val="FDF4FF"/>
          </a:solidFill>
          <a:ln w="12700">
            <a:solidFill>
              <a:srgbClr val="C4B5FD"/>
            </a:solidFill>
            <a:prstDash val="solid"/>
          </a:ln>
          <a:effectLst>
            <a:outerShdw blurRad="63500" dist="25400" dir="2700000" algn="bl" rotWithShape="0">
              <a:srgbClr val="000000">
                <a:alpha val="12000"/>
              </a:srgbClr>
            </a:outerShdw>
          </a:effectLst>
        </p:spPr>
        <p:txBody>
          <a:bodyPr/>
          <a:lstStyle/>
          <a:p>
            <a:endParaRPr lang="en-US"/>
          </a:p>
        </p:txBody>
      </p:sp>
      <p:sp>
        <p:nvSpPr>
          <p:cNvPr id="38" name="Text 36"/>
          <p:cNvSpPr/>
          <p:nvPr/>
        </p:nvSpPr>
        <p:spPr>
          <a:xfrm>
            <a:off x="6035040" y="1161288"/>
            <a:ext cx="2651760" cy="36576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 CASES &amp; THRESHOLDS</a:t>
            </a:r>
            <a:endParaRPr lang="en-US" sz="1300" dirty="0"/>
          </a:p>
        </p:txBody>
      </p:sp>
      <p:sp>
        <p:nvSpPr>
          <p:cNvPr id="39" name="Shape 37"/>
          <p:cNvSpPr/>
          <p:nvPr/>
        </p:nvSpPr>
        <p:spPr>
          <a:xfrm>
            <a:off x="6080760" y="1600200"/>
            <a:ext cx="2560320" cy="777240"/>
          </a:xfrm>
          <a:prstGeom prst="roundRect">
            <a:avLst>
              <a:gd name="adj" fmla="val 9412"/>
            </a:avLst>
          </a:prstGeom>
          <a:solidFill>
            <a:srgbClr val="FFFFFF"/>
          </a:solidFill>
          <a:ln w="12700">
            <a:solidFill>
              <a:srgbClr val="C4B5FD"/>
            </a:solidFill>
            <a:prstDash val="solid"/>
          </a:ln>
        </p:spPr>
        <p:txBody>
          <a:bodyPr/>
          <a:lstStyle/>
          <a:p>
            <a:endParaRPr lang="en-US"/>
          </a:p>
        </p:txBody>
      </p:sp>
      <p:sp>
        <p:nvSpPr>
          <p:cNvPr id="40" name="Text 38"/>
          <p:cNvSpPr/>
          <p:nvPr/>
        </p:nvSpPr>
        <p:spPr>
          <a:xfrm>
            <a:off x="6172200" y="1664208"/>
            <a:ext cx="2377440" cy="292608"/>
          </a:xfrm>
          <a:prstGeom prst="rect">
            <a:avLst/>
          </a:prstGeom>
          <a:noFill/>
          <a:ln/>
        </p:spPr>
        <p:txBody>
          <a:bodyPr wrap="square"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CASE A</a:t>
            </a:r>
            <a:endParaRPr lang="en-US" sz="1200" dirty="0"/>
          </a:p>
        </p:txBody>
      </p:sp>
      <p:sp>
        <p:nvSpPr>
          <p:cNvPr id="41" name="Text 39"/>
          <p:cNvSpPr/>
          <p:nvPr/>
        </p:nvSpPr>
        <p:spPr>
          <a:xfrm>
            <a:off x="6172200" y="1956816"/>
            <a:ext cx="23774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User missing → use item verdict as sole signal</a:t>
            </a:r>
            <a:endParaRPr lang="en-US" sz="1100" dirty="0"/>
          </a:p>
        </p:txBody>
      </p:sp>
      <p:sp>
        <p:nvSpPr>
          <p:cNvPr id="42" name="Shape 40"/>
          <p:cNvSpPr/>
          <p:nvPr/>
        </p:nvSpPr>
        <p:spPr>
          <a:xfrm>
            <a:off x="6080760" y="2514600"/>
            <a:ext cx="2560320" cy="777240"/>
          </a:xfrm>
          <a:prstGeom prst="roundRect">
            <a:avLst>
              <a:gd name="adj" fmla="val 9412"/>
            </a:avLst>
          </a:prstGeom>
          <a:solidFill>
            <a:srgbClr val="FFFFFF"/>
          </a:solidFill>
          <a:ln w="12700">
            <a:solidFill>
              <a:srgbClr val="C4B5FD"/>
            </a:solidFill>
            <a:prstDash val="solid"/>
          </a:ln>
        </p:spPr>
        <p:txBody>
          <a:bodyPr/>
          <a:lstStyle/>
          <a:p>
            <a:endParaRPr lang="en-US"/>
          </a:p>
        </p:txBody>
      </p:sp>
      <p:sp>
        <p:nvSpPr>
          <p:cNvPr id="43" name="Text 41"/>
          <p:cNvSpPr/>
          <p:nvPr/>
        </p:nvSpPr>
        <p:spPr>
          <a:xfrm>
            <a:off x="6172200" y="2578608"/>
            <a:ext cx="2377440" cy="292608"/>
          </a:xfrm>
          <a:prstGeom prst="rect">
            <a:avLst/>
          </a:prstGeom>
          <a:noFill/>
          <a:ln/>
        </p:spPr>
        <p:txBody>
          <a:bodyPr wrap="square"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CASE B</a:t>
            </a:r>
            <a:endParaRPr lang="en-US" sz="1200" dirty="0"/>
          </a:p>
        </p:txBody>
      </p:sp>
      <p:sp>
        <p:nvSpPr>
          <p:cNvPr id="44" name="Text 42"/>
          <p:cNvSpPr/>
          <p:nvPr/>
        </p:nvSpPr>
        <p:spPr>
          <a:xfrm>
            <a:off x="6172200" y="2871216"/>
            <a:ext cx="23774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Low confidence → weight DNA over item average</a:t>
            </a:r>
            <a:endParaRPr lang="en-US" sz="1100" dirty="0"/>
          </a:p>
        </p:txBody>
      </p:sp>
      <p:sp>
        <p:nvSpPr>
          <p:cNvPr id="45" name="Shape 43"/>
          <p:cNvSpPr/>
          <p:nvPr/>
        </p:nvSpPr>
        <p:spPr>
          <a:xfrm>
            <a:off x="6080760" y="3429000"/>
            <a:ext cx="2560320" cy="777240"/>
          </a:xfrm>
          <a:prstGeom prst="roundRect">
            <a:avLst>
              <a:gd name="adj" fmla="val 9412"/>
            </a:avLst>
          </a:prstGeom>
          <a:solidFill>
            <a:srgbClr val="FFFFFF"/>
          </a:solidFill>
          <a:ln w="12700">
            <a:solidFill>
              <a:srgbClr val="C4B5FD"/>
            </a:solidFill>
            <a:prstDash val="solid"/>
          </a:ln>
        </p:spPr>
        <p:txBody>
          <a:bodyPr/>
          <a:lstStyle/>
          <a:p>
            <a:endParaRPr lang="en-US"/>
          </a:p>
        </p:txBody>
      </p:sp>
      <p:sp>
        <p:nvSpPr>
          <p:cNvPr id="46" name="Text 44"/>
          <p:cNvSpPr/>
          <p:nvPr/>
        </p:nvSpPr>
        <p:spPr>
          <a:xfrm>
            <a:off x="6172200" y="3493008"/>
            <a:ext cx="2377440" cy="292608"/>
          </a:xfrm>
          <a:prstGeom prst="rect">
            <a:avLst/>
          </a:prstGeom>
          <a:noFill/>
          <a:ln/>
        </p:spPr>
        <p:txBody>
          <a:bodyPr wrap="square"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CASE C</a:t>
            </a:r>
            <a:endParaRPr lang="en-US" sz="1200" dirty="0"/>
          </a:p>
        </p:txBody>
      </p:sp>
      <p:sp>
        <p:nvSpPr>
          <p:cNvPr id="47" name="Text 45"/>
          <p:cNvSpPr/>
          <p:nvPr/>
        </p:nvSpPr>
        <p:spPr>
          <a:xfrm>
            <a:off x="6172200" y="3785616"/>
            <a:ext cx="2377440" cy="347472"/>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High confidence → anchor to user avg_stars</a:t>
            </a:r>
            <a:endParaRPr lang="en-US" sz="1100" dirty="0"/>
          </a:p>
        </p:txBody>
      </p:sp>
      <p:sp>
        <p:nvSpPr>
          <p:cNvPr id="48" name="Shape 46"/>
          <p:cNvSpPr/>
          <p:nvPr/>
        </p:nvSpPr>
        <p:spPr>
          <a:xfrm>
            <a:off x="6080760" y="4407408"/>
            <a:ext cx="2560320" cy="438912"/>
          </a:xfrm>
          <a:prstGeom prst="roundRect">
            <a:avLst>
              <a:gd name="adj" fmla="val 16667"/>
            </a:avLst>
          </a:prstGeom>
          <a:solidFill>
            <a:srgbClr val="FFFFFF"/>
          </a:solidFill>
          <a:ln w="12700">
            <a:solidFill>
              <a:srgbClr val="C4B5FD"/>
            </a:solidFill>
            <a:prstDash val="solid"/>
          </a:ln>
        </p:spPr>
        <p:txBody>
          <a:bodyPr/>
          <a:lstStyle/>
          <a:p>
            <a:endParaRPr lang="en-US"/>
          </a:p>
        </p:txBody>
      </p:sp>
      <p:sp>
        <p:nvSpPr>
          <p:cNvPr id="49" name="Text 47"/>
          <p:cNvSpPr/>
          <p:nvPr/>
        </p:nvSpPr>
        <p:spPr>
          <a:xfrm>
            <a:off x="6144768" y="4425696"/>
            <a:ext cx="2423160" cy="384048"/>
          </a:xfrm>
          <a:prstGeom prst="rect">
            <a:avLst/>
          </a:prstGeom>
          <a:noFill/>
          <a:ln/>
        </p:spPr>
        <p:txBody>
          <a:bodyPr wrap="square" rtlCol="0" anchor="ctr"/>
          <a:lstStyle/>
          <a:p>
            <a:pPr marL="0" indent="0">
              <a:buNone/>
            </a:pPr>
            <a:r>
              <a:rPr lang="en-US" sz="1000" dirty="0">
                <a:solidFill>
                  <a:srgbClr val="7C3AED"/>
                </a:solidFill>
                <a:latin typeface="Calibri" pitchFamily="34" charset="0"/>
                <a:ea typeface="Calibri" pitchFamily="34" charset="-122"/>
                <a:cs typeface="Calibri" pitchFamily="34" charset="-120"/>
              </a:rPr>
              <a:t>EXCELLENT &gt;70% ≥4.0★ → 4.5–5.0</a:t>
            </a:r>
            <a:endParaRPr lang="en-US" sz="1000" dirty="0"/>
          </a:p>
          <a:p>
            <a:pPr marL="0" indent="0">
              <a:buNone/>
            </a:pPr>
            <a:r>
              <a:rPr lang="en-US" sz="1000" dirty="0">
                <a:solidFill>
                  <a:srgbClr val="7C3AED"/>
                </a:solidFill>
                <a:latin typeface="Calibri" pitchFamily="34" charset="0"/>
                <a:ea typeface="Calibri" pitchFamily="34" charset="-122"/>
                <a:cs typeface="Calibri" pitchFamily="34" charset="-120"/>
              </a:rPr>
              <a:t>GOOD &gt;55% ≥3.8★ → 4.0–4.5</a:t>
            </a:r>
            <a:endParaRPr lang="en-US" sz="1000" dirty="0"/>
          </a:p>
        </p:txBody>
      </p:sp>
      <p:sp>
        <p:nvSpPr>
          <p:cNvPr id="50" name="Text 48"/>
          <p:cNvSpPr/>
          <p:nvPr/>
        </p:nvSpPr>
        <p:spPr>
          <a:xfrm>
            <a:off x="274320" y="5010912"/>
            <a:ext cx="5486400" cy="256032"/>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OpenEvolve's starting point: simple, principled, but with clear room for improvement.</a:t>
            </a:r>
            <a:endParaRPr lang="en-US" sz="1100" dirty="0"/>
          </a:p>
        </p:txBody>
      </p:sp>
      <p:sp>
        <p:nvSpPr>
          <p:cNvPr id="51" name="Text 49"/>
          <p:cNvSpPr/>
          <p:nvPr/>
        </p:nvSpPr>
        <p:spPr>
          <a:xfrm>
            <a:off x="5760720" y="4983480"/>
            <a:ext cx="3017520" cy="292608"/>
          </a:xfrm>
          <a:prstGeom prst="rect">
            <a:avLst/>
          </a:prstGeom>
          <a:noFill/>
          <a:ln/>
        </p:spPr>
        <p:txBody>
          <a:bodyPr wrap="square" rtlCol="0" anchor="ctr"/>
          <a:lstStyle/>
          <a:p>
            <a:pPr marL="0" indent="0" algn="r">
              <a:buNone/>
            </a:pPr>
            <a:r>
              <a:rPr lang="en-US" sz="1400" b="1" dirty="0">
                <a:solidFill>
                  <a:srgbClr val="059669"/>
                </a:solidFill>
                <a:latin typeface="Calibri" pitchFamily="34" charset="0"/>
                <a:ea typeface="Calibri" pitchFamily="34" charset="-122"/>
                <a:cs typeface="Calibri" pitchFamily="34" charset="-120"/>
              </a:rPr>
              <a:t>→ 0.8614</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66928"/>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50-Iteration Evolution: Score Trajectory</a:t>
            </a:r>
            <a:endParaRPr lang="en-US" sz="2800" dirty="0"/>
          </a:p>
        </p:txBody>
      </p:sp>
      <p:graphicFrame>
        <p:nvGraphicFramePr>
          <p:cNvPr id="3" name="Chart 0"/>
          <p:cNvGraphicFramePr/>
          <p:nvPr/>
        </p:nvGraphicFramePr>
        <p:xfrm>
          <a:off x="365760" y="777240"/>
          <a:ext cx="59436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492240" y="822960"/>
            <a:ext cx="2286000" cy="3950208"/>
          </a:xfrm>
          <a:prstGeom prst="roundRect">
            <a:avLst>
              <a:gd name="adj" fmla="val 4000"/>
            </a:avLst>
          </a:prstGeom>
          <a:solidFill>
            <a:srgbClr val="F8FAFC"/>
          </a:solidFill>
          <a:ln w="12700">
            <a:solidFill>
              <a:srgbClr val="E2E8F0"/>
            </a:solidFill>
            <a:prstDash val="solid"/>
          </a:ln>
        </p:spPr>
        <p:txBody>
          <a:bodyPr/>
          <a:lstStyle/>
          <a:p>
            <a:endParaRPr lang="en-US"/>
          </a:p>
        </p:txBody>
      </p:sp>
      <p:sp>
        <p:nvSpPr>
          <p:cNvPr id="5" name="Text 2"/>
          <p:cNvSpPr/>
          <p:nvPr/>
        </p:nvSpPr>
        <p:spPr>
          <a:xfrm>
            <a:off x="6583680" y="868680"/>
            <a:ext cx="2103120" cy="365760"/>
          </a:xfrm>
          <a:prstGeom prst="rect">
            <a:avLst/>
          </a:prstGeom>
          <a:noFill/>
          <a:ln/>
        </p:spPr>
        <p:txBody>
          <a:bodyPr wrap="square"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Key Events</a:t>
            </a:r>
            <a:endParaRPr lang="en-US" sz="1400" dirty="0"/>
          </a:p>
        </p:txBody>
      </p:sp>
      <p:sp>
        <p:nvSpPr>
          <p:cNvPr id="6" name="Shape 3"/>
          <p:cNvSpPr/>
          <p:nvPr/>
        </p:nvSpPr>
        <p:spPr>
          <a:xfrm>
            <a:off x="6601968" y="1298448"/>
            <a:ext cx="201168" cy="201168"/>
          </a:xfrm>
          <a:prstGeom prst="ellipse">
            <a:avLst/>
          </a:prstGeom>
          <a:solidFill>
            <a:srgbClr val="1E2761"/>
          </a:solidFill>
          <a:ln w="12700">
            <a:solidFill>
              <a:srgbClr val="1E2761"/>
            </a:solidFill>
            <a:prstDash val="solid"/>
          </a:ln>
        </p:spPr>
        <p:txBody>
          <a:bodyPr/>
          <a:lstStyle/>
          <a:p>
            <a:endParaRPr lang="en-US"/>
          </a:p>
        </p:txBody>
      </p:sp>
      <p:sp>
        <p:nvSpPr>
          <p:cNvPr id="7" name="Text 4"/>
          <p:cNvSpPr/>
          <p:nvPr/>
        </p:nvSpPr>
        <p:spPr>
          <a:xfrm>
            <a:off x="6876288" y="1234440"/>
            <a:ext cx="1810512" cy="457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Gen 0 Seed</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0.8614 — hand-designed</a:t>
            </a:r>
            <a:endParaRPr lang="en-US" sz="1100" dirty="0"/>
          </a:p>
        </p:txBody>
      </p:sp>
      <p:sp>
        <p:nvSpPr>
          <p:cNvPr id="8" name="Shape 5"/>
          <p:cNvSpPr/>
          <p:nvPr/>
        </p:nvSpPr>
        <p:spPr>
          <a:xfrm>
            <a:off x="6601968" y="1865376"/>
            <a:ext cx="201168" cy="201168"/>
          </a:xfrm>
          <a:prstGeom prst="ellipse">
            <a:avLst/>
          </a:prstGeom>
          <a:solidFill>
            <a:srgbClr val="0EA5E9"/>
          </a:solidFill>
          <a:ln w="12700">
            <a:solidFill>
              <a:srgbClr val="0EA5E9"/>
            </a:solidFill>
            <a:prstDash val="solid"/>
          </a:ln>
        </p:spPr>
        <p:txBody>
          <a:bodyPr/>
          <a:lstStyle/>
          <a:p>
            <a:endParaRPr lang="en-US"/>
          </a:p>
        </p:txBody>
      </p:sp>
      <p:sp>
        <p:nvSpPr>
          <p:cNvPr id="9" name="Text 6"/>
          <p:cNvSpPr/>
          <p:nvPr/>
        </p:nvSpPr>
        <p:spPr>
          <a:xfrm>
            <a:off x="6876288" y="1801368"/>
            <a:ext cx="1810512" cy="457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Gen 1 Peak</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0.8931 — LLM expands taxonomy</a:t>
            </a:r>
            <a:endParaRPr lang="en-US" sz="1100" dirty="0"/>
          </a:p>
        </p:txBody>
      </p:sp>
      <p:sp>
        <p:nvSpPr>
          <p:cNvPr id="10" name="Shape 7"/>
          <p:cNvSpPr/>
          <p:nvPr/>
        </p:nvSpPr>
        <p:spPr>
          <a:xfrm>
            <a:off x="6601968" y="2432304"/>
            <a:ext cx="201168" cy="201168"/>
          </a:xfrm>
          <a:prstGeom prst="ellipse">
            <a:avLst/>
          </a:prstGeom>
          <a:solidFill>
            <a:srgbClr val="D97706"/>
          </a:solidFill>
          <a:ln w="12700">
            <a:solidFill>
              <a:srgbClr val="D97706"/>
            </a:solidFill>
            <a:prstDash val="solid"/>
          </a:ln>
        </p:spPr>
        <p:txBody>
          <a:bodyPr/>
          <a:lstStyle/>
          <a:p>
            <a:endParaRPr lang="en-US"/>
          </a:p>
        </p:txBody>
      </p:sp>
      <p:sp>
        <p:nvSpPr>
          <p:cNvPr id="11" name="Text 8"/>
          <p:cNvSpPr/>
          <p:nvPr/>
        </p:nvSpPr>
        <p:spPr>
          <a:xfrm>
            <a:off x="6876288" y="2368296"/>
            <a:ext cx="1810512" cy="457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Gen 3 Worst (valid)</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0.8327 — overfitting!</a:t>
            </a:r>
            <a:endParaRPr lang="en-US" sz="1100" dirty="0"/>
          </a:p>
        </p:txBody>
      </p:sp>
      <p:sp>
        <p:nvSpPr>
          <p:cNvPr id="12" name="Shape 9"/>
          <p:cNvSpPr/>
          <p:nvPr/>
        </p:nvSpPr>
        <p:spPr>
          <a:xfrm>
            <a:off x="6601968" y="2999232"/>
            <a:ext cx="201168" cy="201168"/>
          </a:xfrm>
          <a:prstGeom prst="ellipse">
            <a:avLst/>
          </a:prstGeom>
          <a:solidFill>
            <a:srgbClr val="059669"/>
          </a:solidFill>
          <a:ln w="12700">
            <a:solidFill>
              <a:srgbClr val="059669"/>
            </a:solidFill>
            <a:prstDash val="solid"/>
          </a:ln>
        </p:spPr>
        <p:txBody>
          <a:bodyPr/>
          <a:lstStyle/>
          <a:p>
            <a:endParaRPr lang="en-US"/>
          </a:p>
        </p:txBody>
      </p:sp>
      <p:sp>
        <p:nvSpPr>
          <p:cNvPr id="13" name="Text 10"/>
          <p:cNvSpPr/>
          <p:nvPr/>
        </p:nvSpPr>
        <p:spPr>
          <a:xfrm>
            <a:off x="6876288" y="2935224"/>
            <a:ext cx="1810512" cy="457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Gen 4 BEST</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0.9128 — simplification wins</a:t>
            </a:r>
            <a:endParaRPr lang="en-US" sz="1100" dirty="0"/>
          </a:p>
        </p:txBody>
      </p:sp>
      <p:sp>
        <p:nvSpPr>
          <p:cNvPr id="14" name="Shape 11"/>
          <p:cNvSpPr/>
          <p:nvPr/>
        </p:nvSpPr>
        <p:spPr>
          <a:xfrm>
            <a:off x="6601968" y="3566160"/>
            <a:ext cx="201168" cy="201168"/>
          </a:xfrm>
          <a:prstGeom prst="ellipse">
            <a:avLst/>
          </a:prstGeom>
          <a:solidFill>
            <a:srgbClr val="DC2626"/>
          </a:solidFill>
          <a:ln w="12700">
            <a:solidFill>
              <a:srgbClr val="DC2626"/>
            </a:solidFill>
            <a:prstDash val="solid"/>
          </a:ln>
        </p:spPr>
        <p:txBody>
          <a:bodyPr/>
          <a:lstStyle/>
          <a:p>
            <a:endParaRPr lang="en-US"/>
          </a:p>
        </p:txBody>
      </p:sp>
      <p:sp>
        <p:nvSpPr>
          <p:cNvPr id="15" name="Text 12"/>
          <p:cNvSpPr/>
          <p:nvPr/>
        </p:nvSpPr>
        <p:spPr>
          <a:xfrm>
            <a:off x="6876288" y="3502152"/>
            <a:ext cx="1810512" cy="457200"/>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Failures (×6)</a:t>
            </a: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0.2763 — invalid YAML</a:t>
            </a:r>
            <a:endParaRPr lang="en-US" sz="1100" dirty="0"/>
          </a:p>
        </p:txBody>
      </p:sp>
      <p:sp>
        <p:nvSpPr>
          <p:cNvPr id="16" name="Text 13"/>
          <p:cNvSpPr/>
          <p:nvPr/>
        </p:nvSpPr>
        <p:spPr>
          <a:xfrm>
            <a:off x="365760" y="4892040"/>
            <a:ext cx="8412480" cy="256032"/>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47 programs evaluated  •  7 generations  •  3 islands  •  6 catastrophic failures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37160"/>
            <a:ext cx="6858000" cy="56692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Phase 1 — Gen 1: Taxonomy Explosion  (+3.7%)</a:t>
            </a:r>
            <a:endParaRPr lang="en-US" sz="2600" dirty="0"/>
          </a:p>
        </p:txBody>
      </p:sp>
      <p:sp>
        <p:nvSpPr>
          <p:cNvPr id="3" name="Shape 1"/>
          <p:cNvSpPr/>
          <p:nvPr/>
        </p:nvSpPr>
        <p:spPr>
          <a:xfrm>
            <a:off x="7315200" y="137160"/>
            <a:ext cx="1463040" cy="566928"/>
          </a:xfrm>
          <a:prstGeom prst="roundRect">
            <a:avLst>
              <a:gd name="adj" fmla="val 16129"/>
            </a:avLst>
          </a:prstGeom>
          <a:solidFill>
            <a:srgbClr val="F0FDF4"/>
          </a:solidFill>
          <a:ln w="12700">
            <a:solidFill>
              <a:srgbClr val="059669"/>
            </a:solidFill>
            <a:prstDash val="solid"/>
          </a:ln>
        </p:spPr>
        <p:txBody>
          <a:bodyPr/>
          <a:lstStyle/>
          <a:p>
            <a:endParaRPr lang="en-US"/>
          </a:p>
        </p:txBody>
      </p:sp>
      <p:sp>
        <p:nvSpPr>
          <p:cNvPr id="4" name="Text 2"/>
          <p:cNvSpPr/>
          <p:nvPr/>
        </p:nvSpPr>
        <p:spPr>
          <a:xfrm>
            <a:off x="7315200" y="137160"/>
            <a:ext cx="1463040" cy="566928"/>
          </a:xfrm>
          <a:prstGeom prst="rect">
            <a:avLst/>
          </a:prstGeom>
          <a:noFill/>
          <a:ln/>
        </p:spPr>
        <p:txBody>
          <a:bodyPr wrap="square" rtlCol="0" anchor="ctr"/>
          <a:lstStyle/>
          <a:p>
            <a:pPr marL="0" indent="0" algn="ctr">
              <a:buNone/>
            </a:pPr>
            <a:r>
              <a:rPr lang="en-US" sz="1200" b="1" dirty="0">
                <a:solidFill>
                  <a:srgbClr val="059669"/>
                </a:solidFill>
                <a:latin typeface="Calibri" pitchFamily="34" charset="0"/>
                <a:ea typeface="Calibri" pitchFamily="34" charset="-122"/>
                <a:cs typeface="Calibri" pitchFamily="34" charset="-120"/>
              </a:rPr>
              <a:t>0.8614 → 0.8931</a:t>
            </a:r>
            <a:endParaRPr lang="en-US" sz="1200" dirty="0"/>
          </a:p>
        </p:txBody>
      </p:sp>
      <p:sp>
        <p:nvSpPr>
          <p:cNvPr id="5" name="Text 3"/>
          <p:cNvSpPr/>
          <p:nvPr/>
        </p:nvSpPr>
        <p:spPr>
          <a:xfrm>
            <a:off x="457200" y="731520"/>
            <a:ext cx="8229600" cy="29260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Program 5953d050  |  Gen 1, Island 0  |  Parent: 95465d89 (Gen 0 seed)</a:t>
            </a:r>
            <a:endParaRPr lang="en-US" sz="1200" dirty="0"/>
          </a:p>
        </p:txBody>
      </p:sp>
      <p:sp>
        <p:nvSpPr>
          <p:cNvPr id="6" name="Shape 4"/>
          <p:cNvSpPr/>
          <p:nvPr/>
        </p:nvSpPr>
        <p:spPr>
          <a:xfrm>
            <a:off x="274320" y="1097280"/>
            <a:ext cx="2788920" cy="3566160"/>
          </a:xfrm>
          <a:prstGeom prst="roundRect">
            <a:avLst>
              <a:gd name="adj" fmla="val 3934"/>
            </a:avLst>
          </a:prstGeom>
          <a:solidFill>
            <a:srgbClr val="EFF6FF"/>
          </a:solidFill>
          <a:ln w="12700">
            <a:solidFill>
              <a:srgbClr val="93C5FD"/>
            </a:solidFill>
            <a:prstDash val="solid"/>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365760" y="1161288"/>
            <a:ext cx="260604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 New User Archetypes (4→8)</a:t>
            </a:r>
            <a:endParaRPr lang="en-US" sz="1300" dirty="0"/>
          </a:p>
        </p:txBody>
      </p:sp>
      <p:sp>
        <p:nvSpPr>
          <p:cNvPr id="8" name="Shape 6"/>
          <p:cNvSpPr/>
          <p:nvPr/>
        </p:nvSpPr>
        <p:spPr>
          <a:xfrm>
            <a:off x="411480" y="1691640"/>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9" name="Text 7"/>
          <p:cNvSpPr/>
          <p:nvPr/>
        </p:nvSpPr>
        <p:spPr>
          <a:xfrm>
            <a:off x="502920" y="1737360"/>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TYPE_E: TREND_FOLLOWER — social proof bias, rates echoing collective consensus</a:t>
            </a:r>
            <a:endParaRPr lang="en-US" sz="1050" dirty="0"/>
          </a:p>
        </p:txBody>
      </p:sp>
      <p:sp>
        <p:nvSpPr>
          <p:cNvPr id="10" name="Shape 8"/>
          <p:cNvSpPr/>
          <p:nvPr/>
        </p:nvSpPr>
        <p:spPr>
          <a:xfrm>
            <a:off x="411480" y="2441448"/>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11" name="Text 9"/>
          <p:cNvSpPr/>
          <p:nvPr/>
        </p:nvSpPr>
        <p:spPr>
          <a:xfrm>
            <a:off x="502920" y="2487168"/>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TYPE_F: VALUE_HUNTER — price-to-quality ratio focus, downrates overpriced</a:t>
            </a:r>
            <a:endParaRPr lang="en-US" sz="1050" dirty="0"/>
          </a:p>
        </p:txBody>
      </p:sp>
      <p:sp>
        <p:nvSpPr>
          <p:cNvPr id="12" name="Shape 10"/>
          <p:cNvSpPr/>
          <p:nvPr/>
        </p:nvSpPr>
        <p:spPr>
          <a:xfrm>
            <a:off x="411480" y="3191256"/>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13" name="Text 11"/>
          <p:cNvSpPr/>
          <p:nvPr/>
        </p:nvSpPr>
        <p:spPr>
          <a:xfrm>
            <a:off x="502920" y="3236976"/>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TYPE_G: RECENCY_BIASED — recent experience dominates, recency_weight 0.6–0.8</a:t>
            </a:r>
            <a:endParaRPr lang="en-US" sz="1050" dirty="0"/>
          </a:p>
        </p:txBody>
      </p:sp>
      <p:sp>
        <p:nvSpPr>
          <p:cNvPr id="14" name="Shape 12"/>
          <p:cNvSpPr/>
          <p:nvPr/>
        </p:nvSpPr>
        <p:spPr>
          <a:xfrm>
            <a:off x="411480" y="3941064"/>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15" name="Text 13"/>
          <p:cNvSpPr/>
          <p:nvPr/>
        </p:nvSpPr>
        <p:spPr>
          <a:xfrm>
            <a:off x="502920" y="3986784"/>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TYPE_H: EMOTIONAL_RATER — single peak moment can override all other signals</a:t>
            </a:r>
            <a:endParaRPr lang="en-US" sz="1050" dirty="0"/>
          </a:p>
        </p:txBody>
      </p:sp>
      <p:sp>
        <p:nvSpPr>
          <p:cNvPr id="16" name="Shape 14"/>
          <p:cNvSpPr/>
          <p:nvPr/>
        </p:nvSpPr>
        <p:spPr>
          <a:xfrm>
            <a:off x="3200400" y="1097280"/>
            <a:ext cx="2788920" cy="3566160"/>
          </a:xfrm>
          <a:prstGeom prst="roundRect">
            <a:avLst>
              <a:gd name="adj" fmla="val 3934"/>
            </a:avLst>
          </a:prstGeom>
          <a:solidFill>
            <a:srgbClr val="FFF7ED"/>
          </a:solidFill>
          <a:ln w="12700">
            <a:solidFill>
              <a:srgbClr val="FCD34D"/>
            </a:solidFill>
            <a:prstDash val="solid"/>
          </a:ln>
          <a:effectLst>
            <a:outerShdw blurRad="63500" dist="25400" dir="2700000" algn="bl" rotWithShape="0">
              <a:srgbClr val="000000">
                <a:alpha val="12000"/>
              </a:srgbClr>
            </a:outerShdw>
          </a:effectLst>
        </p:spPr>
        <p:txBody>
          <a:bodyPr/>
          <a:lstStyle/>
          <a:p>
            <a:endParaRPr lang="en-US"/>
          </a:p>
        </p:txBody>
      </p:sp>
      <p:sp>
        <p:nvSpPr>
          <p:cNvPr id="17" name="Text 15"/>
          <p:cNvSpPr/>
          <p:nvPr/>
        </p:nvSpPr>
        <p:spPr>
          <a:xfrm>
            <a:off x="3291840" y="1161288"/>
            <a:ext cx="260604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 New Item Archetypes (5→8)</a:t>
            </a:r>
            <a:endParaRPr lang="en-US" sz="1300" dirty="0"/>
          </a:p>
        </p:txBody>
      </p:sp>
      <p:sp>
        <p:nvSpPr>
          <p:cNvPr id="18" name="Shape 16"/>
          <p:cNvSpPr/>
          <p:nvPr/>
        </p:nvSpPr>
        <p:spPr>
          <a:xfrm>
            <a:off x="3337560" y="1691640"/>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19" name="Text 17"/>
          <p:cNvSpPr/>
          <p:nvPr/>
        </p:nvSpPr>
        <p:spPr>
          <a:xfrm>
            <a:off x="3429000" y="1737360"/>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UNDERPERFORMER: 3.0–3.5★ avg but hidden strengths in attributes</a:t>
            </a:r>
            <a:endParaRPr lang="en-US" sz="1050" dirty="0"/>
          </a:p>
        </p:txBody>
      </p:sp>
      <p:sp>
        <p:nvSpPr>
          <p:cNvPr id="20" name="Shape 18"/>
          <p:cNvSpPr/>
          <p:nvPr/>
        </p:nvSpPr>
        <p:spPr>
          <a:xfrm>
            <a:off x="3337560" y="2441448"/>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21" name="Text 19"/>
          <p:cNvSpPr/>
          <p:nvPr/>
        </p:nvSpPr>
        <p:spPr>
          <a:xfrm>
            <a:off x="3429000" y="2487168"/>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INFLATED_HYPE: Many reviews at 4–5★ despite recent decline → discount</a:t>
            </a:r>
            <a:endParaRPr lang="en-US" sz="1050" dirty="0"/>
          </a:p>
        </p:txBody>
      </p:sp>
      <p:sp>
        <p:nvSpPr>
          <p:cNvPr id="22" name="Shape 20"/>
          <p:cNvSpPr/>
          <p:nvPr/>
        </p:nvSpPr>
        <p:spPr>
          <a:xfrm>
            <a:off x="3337560" y="3191256"/>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23" name="Text 21"/>
          <p:cNvSpPr/>
          <p:nvPr/>
        </p:nvSpPr>
        <p:spPr>
          <a:xfrm>
            <a:off x="3429000" y="3236976"/>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NEW_ARRIVAL: &lt;10 reviews, high uncertainty → conservative prediction</a:t>
            </a:r>
            <a:endParaRPr lang="en-US" sz="1050" dirty="0"/>
          </a:p>
        </p:txBody>
      </p:sp>
      <p:sp>
        <p:nvSpPr>
          <p:cNvPr id="24" name="Shape 22"/>
          <p:cNvSpPr/>
          <p:nvPr/>
        </p:nvSpPr>
        <p:spPr>
          <a:xfrm>
            <a:off x="6126480" y="1097280"/>
            <a:ext cx="2788920" cy="3566160"/>
          </a:xfrm>
          <a:prstGeom prst="roundRect">
            <a:avLst>
              <a:gd name="adj" fmla="val 3934"/>
            </a:avLst>
          </a:prstGeom>
          <a:solidFill>
            <a:srgbClr val="FDF4FF"/>
          </a:solidFill>
          <a:ln w="12700">
            <a:solidFill>
              <a:srgbClr val="C4B5FD"/>
            </a:solidFill>
            <a:prstDash val="solid"/>
          </a:ln>
          <a:effectLst>
            <a:outerShdw blurRad="63500" dist="25400" dir="2700000" algn="bl" rotWithShape="0">
              <a:srgbClr val="000000">
                <a:alpha val="12000"/>
              </a:srgbClr>
            </a:outerShdw>
          </a:effectLst>
        </p:spPr>
        <p:txBody>
          <a:bodyPr/>
          <a:lstStyle/>
          <a:p>
            <a:endParaRPr lang="en-US"/>
          </a:p>
        </p:txBody>
      </p:sp>
      <p:sp>
        <p:nvSpPr>
          <p:cNvPr id="25" name="Text 23"/>
          <p:cNvSpPr/>
          <p:nvPr/>
        </p:nvSpPr>
        <p:spPr>
          <a:xfrm>
            <a:off x="6217920" y="1161288"/>
            <a:ext cx="260604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 Cognitive Bias Layer Added</a:t>
            </a:r>
            <a:endParaRPr lang="en-US" sz="1300" dirty="0"/>
          </a:p>
        </p:txBody>
      </p:sp>
      <p:sp>
        <p:nvSpPr>
          <p:cNvPr id="26" name="Shape 24"/>
          <p:cNvSpPr/>
          <p:nvPr/>
        </p:nvSpPr>
        <p:spPr>
          <a:xfrm>
            <a:off x="6263640" y="1691640"/>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27" name="Text 25"/>
          <p:cNvSpPr/>
          <p:nvPr/>
        </p:nvSpPr>
        <p:spPr>
          <a:xfrm>
            <a:off x="6355080" y="1737360"/>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BANDWAGON: TREND_FOLLOWER + CONSISTENT_FAV → +0.2 to +0.4</a:t>
            </a:r>
            <a:endParaRPr lang="en-US" sz="1050" dirty="0"/>
          </a:p>
        </p:txBody>
      </p:sp>
      <p:sp>
        <p:nvSpPr>
          <p:cNvPr id="28" name="Shape 26"/>
          <p:cNvSpPr/>
          <p:nvPr/>
        </p:nvSpPr>
        <p:spPr>
          <a:xfrm>
            <a:off x="6263640" y="2441448"/>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29" name="Text 27"/>
          <p:cNvSpPr/>
          <p:nvPr/>
        </p:nvSpPr>
        <p:spPr>
          <a:xfrm>
            <a:off x="6355080" y="2487168"/>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ANCHORING: Stable avg_stars → cluster tightly around it</a:t>
            </a:r>
            <a:endParaRPr lang="en-US" sz="1050" dirty="0"/>
          </a:p>
        </p:txBody>
      </p:sp>
      <p:sp>
        <p:nvSpPr>
          <p:cNvPr id="30" name="Shape 28"/>
          <p:cNvSpPr/>
          <p:nvPr/>
        </p:nvSpPr>
        <p:spPr>
          <a:xfrm>
            <a:off x="6263640" y="3191256"/>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31" name="Text 29"/>
          <p:cNvSpPr/>
          <p:nvPr/>
        </p:nvSpPr>
        <p:spPr>
          <a:xfrm>
            <a:off x="6355080" y="3236976"/>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NEGATIVITY_BIAS: HARSH_CRITIC → multiply triggers by 1.5×</a:t>
            </a:r>
            <a:endParaRPr lang="en-US" sz="1050" dirty="0"/>
          </a:p>
        </p:txBody>
      </p:sp>
      <p:sp>
        <p:nvSpPr>
          <p:cNvPr id="32" name="Shape 30"/>
          <p:cNvSpPr/>
          <p:nvPr/>
        </p:nvSpPr>
        <p:spPr>
          <a:xfrm>
            <a:off x="6263640" y="3941064"/>
            <a:ext cx="2514600" cy="658368"/>
          </a:xfrm>
          <a:prstGeom prst="roundRect">
            <a:avLst>
              <a:gd name="adj" fmla="val 11111"/>
            </a:avLst>
          </a:prstGeom>
          <a:solidFill>
            <a:srgbClr val="FFFFFF"/>
          </a:solidFill>
          <a:ln w="12700">
            <a:solidFill>
              <a:srgbClr val="E2E8F0"/>
            </a:solidFill>
            <a:prstDash val="solid"/>
          </a:ln>
        </p:spPr>
        <p:txBody>
          <a:bodyPr/>
          <a:lstStyle/>
          <a:p>
            <a:endParaRPr lang="en-US"/>
          </a:p>
        </p:txBody>
      </p:sp>
      <p:sp>
        <p:nvSpPr>
          <p:cNvPr id="33" name="Text 31"/>
          <p:cNvSpPr/>
          <p:nvPr/>
        </p:nvSpPr>
        <p:spPr>
          <a:xfrm>
            <a:off x="6355080" y="3986784"/>
            <a:ext cx="2331720" cy="566928"/>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PREDICTION HEURISTIC: 6 ordered steps (start baseline → clamp → round)</a:t>
            </a:r>
            <a:endParaRPr lang="en-US" sz="1050" dirty="0"/>
          </a:p>
        </p:txBody>
      </p:sp>
      <p:sp>
        <p:nvSpPr>
          <p:cNvPr id="34" name="Shape 32"/>
          <p:cNvSpPr/>
          <p:nvPr/>
        </p:nvSpPr>
        <p:spPr>
          <a:xfrm>
            <a:off x="274320" y="4773168"/>
            <a:ext cx="8595360" cy="365760"/>
          </a:xfrm>
          <a:prstGeom prst="roundRect">
            <a:avLst>
              <a:gd name="adj" fmla="val 20000"/>
            </a:avLst>
          </a:prstGeom>
          <a:solidFill>
            <a:srgbClr val="F0FDF4"/>
          </a:solidFill>
          <a:ln w="12700">
            <a:solidFill>
              <a:srgbClr val="059669"/>
            </a:solidFill>
            <a:prstDash val="solid"/>
          </a:ln>
        </p:spPr>
        <p:txBody>
          <a:bodyPr/>
          <a:lstStyle/>
          <a:p>
            <a:endParaRPr lang="en-US"/>
          </a:p>
        </p:txBody>
      </p:sp>
      <p:sp>
        <p:nvSpPr>
          <p:cNvPr id="35" name="Text 33"/>
          <p:cNvSpPr/>
          <p:nvPr/>
        </p:nvSpPr>
        <p:spPr>
          <a:xfrm>
            <a:off x="457200" y="4782312"/>
            <a:ext cx="8321040" cy="347472"/>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Key insight: The 6-step ordered Prediction Heuristic (an explicit algorithm) improved performance significantly over implicit reasoning.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66928"/>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Phase 2 — Gen 2–3: The Complexity Trap</a:t>
            </a:r>
            <a:endParaRPr lang="en-US" sz="2800" dirty="0"/>
          </a:p>
        </p:txBody>
      </p:sp>
      <p:sp>
        <p:nvSpPr>
          <p:cNvPr id="3" name="Text 1"/>
          <p:cNvSpPr/>
          <p:nvPr/>
        </p:nvSpPr>
        <p:spPr>
          <a:xfrm>
            <a:off x="457200" y="713232"/>
            <a:ext cx="8229600" cy="36576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OpenEvolve kept adding more types and cases. Scores did NOT improve. This revealed an important lesson about LLM-based prediction policies.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01168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40233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Version</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User Types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Item Types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Cases</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Score</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2336">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Gen 0 (seed)</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0.8614</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402336">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Gen 1 best</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0.8931 ↑</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02336">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Gen 2 avg</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14</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1E293B"/>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402336">
                <a:tc>
                  <a:txBody>
                    <a:bodyPr/>
                    <a:lstStyle/>
                    <a:p>
                      <a:pPr marL="0" indent="0">
                        <a:buNone/>
                      </a:pPr>
                      <a:r>
                        <a:rPr lang="en-US" sz="1300" dirty="0">
                          <a:solidFill>
                            <a:srgbClr val="DC2626"/>
                          </a:solidFill>
                          <a:latin typeface="Calibri" pitchFamily="34" charset="0"/>
                          <a:ea typeface="Calibri" pitchFamily="34" charset="-122"/>
                          <a:cs typeface="Calibri" pitchFamily="34" charset="-120"/>
                        </a:rPr>
                        <a:t>Gen 3 worst (9e97cc6b)</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DC2626"/>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dirty="0">
                          <a:solidFill>
                            <a:srgbClr val="DC2626"/>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b="1" dirty="0">
                          <a:solidFill>
                            <a:srgbClr val="DC2626"/>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300" b="1" dirty="0">
                          <a:solidFill>
                            <a:srgbClr val="DC2626"/>
                          </a:solidFill>
                          <a:latin typeface="Calibri" pitchFamily="34" charset="0"/>
                          <a:ea typeface="Calibri" pitchFamily="34" charset="-122"/>
                          <a:cs typeface="Calibri" pitchFamily="34" charset="-120"/>
                        </a:rPr>
                        <a:t>0.8327 ↓↓</a:t>
                      </a:r>
                      <a:endParaRPr lang="en-US" sz="13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sp>
        <p:nvSpPr>
          <p:cNvPr id="5" name="Shape 2"/>
          <p:cNvSpPr/>
          <p:nvPr/>
        </p:nvSpPr>
        <p:spPr>
          <a:xfrm>
            <a:off x="365760" y="3429000"/>
            <a:ext cx="4114800" cy="1645920"/>
          </a:xfrm>
          <a:prstGeom prst="roundRect">
            <a:avLst>
              <a:gd name="adj" fmla="val 6667"/>
            </a:avLst>
          </a:prstGeom>
          <a:solidFill>
            <a:srgbClr val="FEF2F2"/>
          </a:solidFill>
          <a:ln w="12700">
            <a:solidFill>
              <a:srgbClr val="DC2626"/>
            </a:solidFill>
            <a:prstDash val="solid"/>
          </a:ln>
          <a:effectLst>
            <a:outerShdw blurRad="63500" dist="25400" dir="2700000" algn="bl" rotWithShape="0">
              <a:srgbClr val="000000">
                <a:alpha val="12000"/>
              </a:srgbClr>
            </a:outerShdw>
          </a:effectLst>
        </p:spPr>
        <p:txBody>
          <a:bodyPr/>
          <a:lstStyle/>
          <a:p>
            <a:endParaRPr lang="en-US"/>
          </a:p>
        </p:txBody>
      </p:sp>
      <p:sp>
        <p:nvSpPr>
          <p:cNvPr id="6" name="Text 3"/>
          <p:cNvSpPr/>
          <p:nvPr/>
        </p:nvSpPr>
        <p:spPr>
          <a:xfrm>
            <a:off x="548640" y="3493008"/>
            <a:ext cx="3749040" cy="384048"/>
          </a:xfrm>
          <a:prstGeom prst="rect">
            <a:avLst/>
          </a:prstGeom>
          <a:noFill/>
          <a:ln/>
        </p:spPr>
        <p:txBody>
          <a:bodyPr wrap="square" rtlCol="0" anchor="ctr"/>
          <a:lstStyle/>
          <a:p>
            <a:pPr marL="0" indent="0">
              <a:buNone/>
            </a:pPr>
            <a:r>
              <a:rPr lang="en-US" sz="1400" b="1" dirty="0">
                <a:solidFill>
                  <a:srgbClr val="DC2626"/>
                </a:solidFill>
                <a:latin typeface="Calibri" pitchFamily="34" charset="0"/>
                <a:ea typeface="Calibri" pitchFamily="34" charset="-122"/>
                <a:cs typeface="Calibri" pitchFamily="34" charset="-120"/>
              </a:rPr>
              <a:t>❌  What Went Wrong</a:t>
            </a:r>
            <a:endParaRPr lang="en-US" sz="1400" dirty="0"/>
          </a:p>
        </p:txBody>
      </p:sp>
      <p:sp>
        <p:nvSpPr>
          <p:cNvPr id="7" name="Text 4"/>
          <p:cNvSpPr/>
          <p:nvPr/>
        </p:nvSpPr>
        <p:spPr>
          <a:xfrm>
            <a:off x="548640" y="3931920"/>
            <a:ext cx="3749040" cy="105156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TYPE_I (NOVICE_REVIEWER)</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 + NEW_ARRIVAL item type were added
</a:t>
            </a:r>
            <a:r>
              <a:rPr lang="en-US" sz="1200" b="1" dirty="0">
                <a:solidFill>
                  <a:srgbClr val="1E293B"/>
                </a:solidFill>
                <a:latin typeface="Calibri" pitchFamily="34" charset="0"/>
                <a:ea typeface="Calibri" pitchFamily="34" charset="-122"/>
                <a:cs typeface="Calibri" pitchFamily="34" charset="-120"/>
              </a:rPr>
              <a:t>Cases O, P, Q, R</a:t>
            </a:r>
            <a:r>
              <a:rPr lang="en-US" sz="1200" dirty="0">
                <a:solidFill>
                  <a:srgbClr val="1E293B"/>
                </a:solidFill>
                <a:latin typeface="Calibri" pitchFamily="34" charset="0"/>
                <a:ea typeface="Calibri" pitchFamily="34" charset="-122"/>
                <a:cs typeface="Calibri" pitchFamily="34" charset="-120"/>
              </a:rPr>
              <a:t> covered rare edge cases never triggered
Result: 18 rules overloaded the executing LLM</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 predictions became noisier, not better</a:t>
            </a:r>
            <a:endParaRPr lang="en-US" sz="1200" dirty="0"/>
          </a:p>
        </p:txBody>
      </p:sp>
      <p:sp>
        <p:nvSpPr>
          <p:cNvPr id="8" name="Shape 5"/>
          <p:cNvSpPr/>
          <p:nvPr/>
        </p:nvSpPr>
        <p:spPr>
          <a:xfrm>
            <a:off x="4663440" y="3429000"/>
            <a:ext cx="4114800" cy="1645920"/>
          </a:xfrm>
          <a:prstGeom prst="roundRect">
            <a:avLst>
              <a:gd name="adj" fmla="val 6667"/>
            </a:avLst>
          </a:prstGeom>
          <a:solidFill>
            <a:srgbClr val="F0FDF4"/>
          </a:solidFill>
          <a:ln w="12700">
            <a:solidFill>
              <a:srgbClr val="059669"/>
            </a:solidFill>
            <a:prstDash val="solid"/>
          </a:ln>
          <a:effectLst>
            <a:outerShdw blurRad="63500" dist="25400" dir="2700000" algn="bl" rotWithShape="0">
              <a:srgbClr val="000000">
                <a:alpha val="12000"/>
              </a:srgbClr>
            </a:outerShdw>
          </a:effectLst>
        </p:spPr>
        <p:txBody>
          <a:bodyPr/>
          <a:lstStyle/>
          <a:p>
            <a:endParaRPr lang="en-US"/>
          </a:p>
        </p:txBody>
      </p:sp>
      <p:sp>
        <p:nvSpPr>
          <p:cNvPr id="9" name="Text 6"/>
          <p:cNvSpPr/>
          <p:nvPr/>
        </p:nvSpPr>
        <p:spPr>
          <a:xfrm>
            <a:off x="4846320" y="3493008"/>
            <a:ext cx="3749040" cy="384048"/>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  The Lesson</a:t>
            </a:r>
            <a:endParaRPr lang="en-US" sz="1400" dirty="0"/>
          </a:p>
        </p:txBody>
      </p:sp>
      <p:sp>
        <p:nvSpPr>
          <p:cNvPr id="10" name="Text 7"/>
          <p:cNvSpPr/>
          <p:nvPr/>
        </p:nvSpPr>
        <p:spPr>
          <a:xfrm>
            <a:off x="4846320" y="3931920"/>
            <a:ext cx="3749040" cy="105156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Optimal complexity for 1-task evaluation:
</a:t>
            </a:r>
            <a:r>
              <a:rPr lang="en-US" sz="1200" b="1" dirty="0">
                <a:solidFill>
                  <a:srgbClr val="1E293B"/>
                </a:solidFill>
                <a:latin typeface="Calibri" pitchFamily="34" charset="0"/>
                <a:ea typeface="Calibri" pitchFamily="34" charset="-122"/>
                <a:cs typeface="Calibri" pitchFamily="34" charset="-120"/>
              </a:rPr>
              <a:t>~6 user types, ~6 item types, ~12 cases</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More rules = harder for the LLM to apply all of them correctly</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This is an Occam's Razor finding discovered automatically by the evolution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9436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Most Interesting Discovery: Self-Aware Meta-Reasoning</a:t>
            </a:r>
            <a:endParaRPr lang="en-US" sz="2600" dirty="0"/>
          </a:p>
        </p:txBody>
      </p:sp>
      <p:sp>
        <p:nvSpPr>
          <p:cNvPr id="3" name="Shape 1"/>
          <p:cNvSpPr/>
          <p:nvPr/>
        </p:nvSpPr>
        <p:spPr>
          <a:xfrm>
            <a:off x="365760" y="804672"/>
            <a:ext cx="8412480" cy="530352"/>
          </a:xfrm>
          <a:prstGeom prst="roundRect">
            <a:avLst>
              <a:gd name="adj" fmla="val 17241"/>
            </a:avLst>
          </a:prstGeom>
          <a:solidFill>
            <a:srgbClr val="2D3E9E"/>
          </a:solidFill>
          <a:ln w="12700">
            <a:solidFill>
              <a:srgbClr val="0EA5E9"/>
            </a:solidFill>
            <a:prstDash val="solid"/>
          </a:ln>
        </p:spPr>
        <p:txBody>
          <a:bodyPr/>
          <a:lstStyle/>
          <a:p>
            <a:endParaRPr lang="en-US"/>
          </a:p>
        </p:txBody>
      </p:sp>
      <p:sp>
        <p:nvSpPr>
          <p:cNvPr id="4" name="Text 2"/>
          <p:cNvSpPr/>
          <p:nvPr/>
        </p:nvSpPr>
        <p:spPr>
          <a:xfrm>
            <a:off x="548640" y="813816"/>
            <a:ext cx="8046720" cy="493776"/>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6 programs scored 0.2763 — catastrophic failure. All caused by the SAME root cause: the LLM wrote analysis prose BEFORE the YAML output.</a:t>
            </a:r>
            <a:endParaRPr lang="en-US" sz="1300" dirty="0"/>
          </a:p>
        </p:txBody>
      </p:sp>
      <p:sp>
        <p:nvSpPr>
          <p:cNvPr id="5" name="Shape 3"/>
          <p:cNvSpPr/>
          <p:nvPr/>
        </p:nvSpPr>
        <p:spPr>
          <a:xfrm>
            <a:off x="365760" y="1417320"/>
            <a:ext cx="5029200" cy="2331720"/>
          </a:xfrm>
          <a:prstGeom prst="roundRect">
            <a:avLst>
              <a:gd name="adj" fmla="val 3922"/>
            </a:avLst>
          </a:prstGeom>
          <a:solidFill>
            <a:srgbClr val="0D1B5E"/>
          </a:solidFill>
          <a:ln w="12700">
            <a:solidFill>
              <a:srgbClr val="4ADE80"/>
            </a:solidFill>
            <a:prstDash val="solid"/>
          </a:ln>
        </p:spPr>
        <p:txBody>
          <a:bodyPr/>
          <a:lstStyle/>
          <a:p>
            <a:endParaRPr lang="en-US"/>
          </a:p>
        </p:txBody>
      </p:sp>
      <p:sp>
        <p:nvSpPr>
          <p:cNvPr id="6" name="Text 4"/>
          <p:cNvSpPr/>
          <p:nvPr/>
        </p:nvSpPr>
        <p:spPr>
          <a:xfrm>
            <a:off x="548640" y="1463040"/>
            <a:ext cx="4663440" cy="320040"/>
          </a:xfrm>
          <a:prstGeom prst="rect">
            <a:avLst/>
          </a:prstGeom>
          <a:noFill/>
          <a:ln/>
        </p:spPr>
        <p:txBody>
          <a:bodyPr wrap="square" rtlCol="0" anchor="ctr"/>
          <a:lstStyle/>
          <a:p>
            <a:pPr marL="0" indent="0">
              <a:buNone/>
            </a:pPr>
            <a:r>
              <a:rPr lang="en-US" sz="1200" b="1" dirty="0">
                <a:solidFill>
                  <a:srgbClr val="4ADE80"/>
                </a:solidFill>
                <a:latin typeface="Calibri" pitchFamily="34" charset="0"/>
                <a:ea typeface="Calibri" pitchFamily="34" charset="-122"/>
                <a:cs typeface="Calibri" pitchFamily="34" charset="-120"/>
              </a:rPr>
              <a:t>What the LLM actually wrote (program 54633490):</a:t>
            </a:r>
            <a:endParaRPr lang="en-US" sz="1200" dirty="0"/>
          </a:p>
        </p:txBody>
      </p:sp>
      <p:sp>
        <p:nvSpPr>
          <p:cNvPr id="7" name="Text 5"/>
          <p:cNvSpPr/>
          <p:nvPr/>
        </p:nvSpPr>
        <p:spPr>
          <a:xfrm>
            <a:off x="548640" y="1828800"/>
            <a:ext cx="4663440" cy="1828800"/>
          </a:xfrm>
          <a:prstGeom prst="rect">
            <a:avLst/>
          </a:prstGeom>
          <a:noFill/>
          <a:ln/>
        </p:spPr>
        <p:txBody>
          <a:bodyPr wrap="square" rtlCol="0" anchor="ctr"/>
          <a:lstStyle/>
          <a:p>
            <a:pPr marL="0" indent="0">
              <a:buNone/>
            </a:pPr>
            <a:r>
              <a:rPr lang="en-US" sz="1100" b="1" dirty="0">
                <a:solidFill>
                  <a:srgbClr val="E2E8F0"/>
                </a:solidFill>
                <a:latin typeface="Calibri" pitchFamily="34" charset="0"/>
                <a:ea typeface="Calibri" pitchFamily="34" charset="-122"/>
                <a:cs typeface="Calibri" pitchFamily="34" charset="-120"/>
              </a:rPr>
              <a:t>"Looking at the evolution history, I can see that:
</a:t>
            </a:r>
            <a:r>
              <a:rPr lang="en-US" sz="1100" dirty="0">
                <a:solidFill>
                  <a:srgbClr val="E2E8F0"/>
                </a:solidFill>
                <a:latin typeface="Calibri" pitchFamily="34" charset="0"/>
                <a:ea typeface="Calibri" pitchFamily="34" charset="-122"/>
                <a:cs typeface="Calibri" pitchFamily="34" charset="-120"/>
              </a:rPr>
              <a:t>1. The simpler 5-type taxonomy (0.8988) outperforms the complex 10-type taxonomy (0.8960)
2. Adding RECENCY_CRITIC and SERIAL_LOYALIST user types showed improvement
3. The current program has too many types and cases, likely causing overfitting
</a:t>
            </a:r>
            <a:r>
              <a:rPr lang="en-US" sz="1100" b="1" dirty="0">
                <a:solidFill>
                  <a:srgbClr val="E2E8F0"/>
                </a:solidFill>
                <a:latin typeface="Calibri" pitchFamily="34" charset="0"/>
                <a:ea typeface="Calibri" pitchFamily="34" charset="-122"/>
                <a:cs typeface="Calibri" pitchFamily="34" charset="-120"/>
              </a:rPr>
              <a:t>I'll create a hybrid that combines the clean structure of the top performer...
</a:t>
            </a:r>
            <a:r>
              <a:rPr lang="en-US" sz="1100" dirty="0">
                <a:solidFill>
                  <a:srgbClr val="94A3B8"/>
                </a:solidFill>
                <a:latin typeface="Calibri" pitchFamily="34" charset="0"/>
                <a:ea typeface="Calibri" pitchFamily="34" charset="-122"/>
                <a:cs typeface="Calibri" pitchFamily="34" charset="-120"/>
              </a:rPr>
              <a:t># EVOLVE-BLOCK-START
[... YAML starts here, but parser already failed at line 1]</a:t>
            </a:r>
            <a:endParaRPr lang="en-US" sz="1100" dirty="0"/>
          </a:p>
        </p:txBody>
      </p:sp>
      <p:sp>
        <p:nvSpPr>
          <p:cNvPr id="8" name="Shape 6"/>
          <p:cNvSpPr/>
          <p:nvPr/>
        </p:nvSpPr>
        <p:spPr>
          <a:xfrm>
            <a:off x="365760" y="3794760"/>
            <a:ext cx="5029200" cy="640080"/>
          </a:xfrm>
          <a:prstGeom prst="roundRect">
            <a:avLst>
              <a:gd name="adj" fmla="val 11429"/>
            </a:avLst>
          </a:prstGeom>
          <a:solidFill>
            <a:srgbClr val="300000"/>
          </a:solidFill>
          <a:ln w="12700">
            <a:solidFill>
              <a:srgbClr val="DC2626"/>
            </a:solidFill>
            <a:prstDash val="solid"/>
          </a:ln>
        </p:spPr>
        <p:txBody>
          <a:bodyPr/>
          <a:lstStyle/>
          <a:p>
            <a:endParaRPr lang="en-US"/>
          </a:p>
        </p:txBody>
      </p:sp>
      <p:sp>
        <p:nvSpPr>
          <p:cNvPr id="9" name="Text 7"/>
          <p:cNvSpPr/>
          <p:nvPr/>
        </p:nvSpPr>
        <p:spPr>
          <a:xfrm>
            <a:off x="502920" y="3822192"/>
            <a:ext cx="4754880" cy="566928"/>
          </a:xfrm>
          <a:prstGeom prst="rect">
            <a:avLst/>
          </a:prstGeom>
          <a:noFill/>
          <a:ln/>
        </p:spPr>
        <p:txBody>
          <a:bodyPr wrap="square" rtlCol="0" anchor="ctr"/>
          <a:lstStyle/>
          <a:p>
            <a:pPr marL="0" indent="0">
              <a:buNone/>
            </a:pPr>
            <a:r>
              <a:rPr lang="en-US" sz="1100" dirty="0">
                <a:solidFill>
                  <a:srgbClr val="DC2626"/>
                </a:solidFill>
                <a:latin typeface="Calibri" pitchFamily="34" charset="0"/>
                <a:ea typeface="Calibri" pitchFamily="34" charset="-122"/>
                <a:cs typeface="Calibri" pitchFamily="34" charset="-120"/>
              </a:rPr>
              <a:t>❌  YAML Error: 'while scanning a simple key... could not find expected :' at line 1</a:t>
            </a:r>
            <a:endParaRPr lang="en-US" sz="1100" dirty="0"/>
          </a:p>
          <a:p>
            <a:pPr marL="0" indent="0">
              <a:buNone/>
            </a:pPr>
            <a:r>
              <a:rPr lang="en-US" sz="1100" dirty="0">
                <a:solidFill>
                  <a:srgbClr val="DC2626"/>
                </a:solidFill>
                <a:latin typeface="Calibri" pitchFamily="34" charset="0"/>
                <a:ea typeface="Calibri" pitchFamily="34" charset="-122"/>
                <a:cs typeface="Calibri" pitchFamily="34" charset="-120"/>
              </a:rPr>
              <a:t>→  preference_estimation collapsed to 0.0  →  combined_score = 0.2763</a:t>
            </a:r>
            <a:endParaRPr lang="en-US" sz="1100" dirty="0"/>
          </a:p>
        </p:txBody>
      </p:sp>
      <p:sp>
        <p:nvSpPr>
          <p:cNvPr id="10" name="Shape 8"/>
          <p:cNvSpPr/>
          <p:nvPr/>
        </p:nvSpPr>
        <p:spPr>
          <a:xfrm>
            <a:off x="5577840" y="1417320"/>
            <a:ext cx="3200400" cy="3017520"/>
          </a:xfrm>
          <a:prstGeom prst="roundRect">
            <a:avLst>
              <a:gd name="adj" fmla="val 3030"/>
            </a:avLst>
          </a:prstGeom>
          <a:solidFill>
            <a:srgbClr val="1A2456"/>
          </a:solidFill>
          <a:ln w="12700">
            <a:solidFill>
              <a:srgbClr val="D97706"/>
            </a:solidFill>
            <a:prstDash val="solid"/>
          </a:ln>
        </p:spPr>
        <p:txBody>
          <a:bodyPr/>
          <a:lstStyle/>
          <a:p>
            <a:endParaRPr lang="en-US"/>
          </a:p>
        </p:txBody>
      </p:sp>
      <p:sp>
        <p:nvSpPr>
          <p:cNvPr id="11" name="Text 9"/>
          <p:cNvSpPr/>
          <p:nvPr/>
        </p:nvSpPr>
        <p:spPr>
          <a:xfrm>
            <a:off x="5715000" y="1481328"/>
            <a:ext cx="2926080" cy="384048"/>
          </a:xfrm>
          <a:prstGeom prst="rect">
            <a:avLst/>
          </a:prstGeom>
          <a:noFill/>
          <a:ln/>
        </p:spPr>
        <p:txBody>
          <a:bodyPr wrap="square" rtlCol="0" anchor="ctr"/>
          <a:lstStyle/>
          <a:p>
            <a:pPr marL="0" indent="0">
              <a:buNone/>
            </a:pPr>
            <a:r>
              <a:rPr lang="en-US" sz="1400" b="1" dirty="0">
                <a:solidFill>
                  <a:srgbClr val="D97706"/>
                </a:solidFill>
                <a:latin typeface="Calibri" pitchFamily="34" charset="0"/>
                <a:ea typeface="Calibri" pitchFamily="34" charset="-122"/>
                <a:cs typeface="Calibri" pitchFamily="34" charset="-120"/>
              </a:rPr>
              <a:t>🤔 What This Means</a:t>
            </a:r>
            <a:endParaRPr lang="en-US" sz="1400" dirty="0"/>
          </a:p>
        </p:txBody>
      </p:sp>
      <p:sp>
        <p:nvSpPr>
          <p:cNvPr id="12" name="Shape 10"/>
          <p:cNvSpPr/>
          <p:nvPr/>
        </p:nvSpPr>
        <p:spPr>
          <a:xfrm>
            <a:off x="5669280" y="1965960"/>
            <a:ext cx="201168" cy="201168"/>
          </a:xfrm>
          <a:prstGeom prst="ellipse">
            <a:avLst/>
          </a:prstGeom>
          <a:solidFill>
            <a:srgbClr val="D97706"/>
          </a:solidFill>
          <a:ln w="12700">
            <a:solidFill>
              <a:srgbClr val="D97706"/>
            </a:solidFill>
            <a:prstDash val="solid"/>
          </a:ln>
        </p:spPr>
        <p:txBody>
          <a:bodyPr/>
          <a:lstStyle/>
          <a:p>
            <a:endParaRPr lang="en-US"/>
          </a:p>
        </p:txBody>
      </p:sp>
      <p:sp>
        <p:nvSpPr>
          <p:cNvPr id="13" name="Text 11"/>
          <p:cNvSpPr/>
          <p:nvPr/>
        </p:nvSpPr>
        <p:spPr>
          <a:xfrm>
            <a:off x="5943600" y="1920240"/>
            <a:ext cx="2651760" cy="43891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The LLM correctly read past scores and concluded complexity hurt performance</a:t>
            </a:r>
            <a:endParaRPr lang="en-US" sz="1100" dirty="0"/>
          </a:p>
        </p:txBody>
      </p:sp>
      <p:sp>
        <p:nvSpPr>
          <p:cNvPr id="14" name="Shape 12"/>
          <p:cNvSpPr/>
          <p:nvPr/>
        </p:nvSpPr>
        <p:spPr>
          <a:xfrm>
            <a:off x="5669280" y="2496312"/>
            <a:ext cx="201168" cy="201168"/>
          </a:xfrm>
          <a:prstGeom prst="ellipse">
            <a:avLst/>
          </a:prstGeom>
          <a:solidFill>
            <a:srgbClr val="D97706"/>
          </a:solidFill>
          <a:ln w="12700">
            <a:solidFill>
              <a:srgbClr val="D97706"/>
            </a:solidFill>
            <a:prstDash val="solid"/>
          </a:ln>
        </p:spPr>
        <p:txBody>
          <a:bodyPr/>
          <a:lstStyle/>
          <a:p>
            <a:endParaRPr lang="en-US"/>
          </a:p>
        </p:txBody>
      </p:sp>
      <p:sp>
        <p:nvSpPr>
          <p:cNvPr id="15" name="Text 13"/>
          <p:cNvSpPr/>
          <p:nvPr/>
        </p:nvSpPr>
        <p:spPr>
          <a:xfrm>
            <a:off x="5943600" y="2450592"/>
            <a:ext cx="2651760" cy="43891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It correctly identified the problematic additions (TYPE_I, NEW_ARRIVAL, cases O-R)</a:t>
            </a:r>
            <a:endParaRPr lang="en-US" sz="1100" dirty="0"/>
          </a:p>
        </p:txBody>
      </p:sp>
      <p:sp>
        <p:nvSpPr>
          <p:cNvPr id="16" name="Shape 14"/>
          <p:cNvSpPr/>
          <p:nvPr/>
        </p:nvSpPr>
        <p:spPr>
          <a:xfrm>
            <a:off x="5669280" y="3026664"/>
            <a:ext cx="201168" cy="201168"/>
          </a:xfrm>
          <a:prstGeom prst="ellipse">
            <a:avLst/>
          </a:prstGeom>
          <a:solidFill>
            <a:srgbClr val="D97706"/>
          </a:solidFill>
          <a:ln w="12700">
            <a:solidFill>
              <a:srgbClr val="D97706"/>
            </a:solidFill>
            <a:prstDash val="solid"/>
          </a:ln>
        </p:spPr>
        <p:txBody>
          <a:bodyPr/>
          <a:lstStyle/>
          <a:p>
            <a:endParaRPr lang="en-US"/>
          </a:p>
        </p:txBody>
      </p:sp>
      <p:sp>
        <p:nvSpPr>
          <p:cNvPr id="17" name="Text 15"/>
          <p:cNvSpPr/>
          <p:nvPr/>
        </p:nvSpPr>
        <p:spPr>
          <a:xfrm>
            <a:off x="5943600" y="2980944"/>
            <a:ext cx="2651760" cy="43891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It correctly proposed simplification as the fix</a:t>
            </a:r>
            <a:endParaRPr lang="en-US" sz="1100" dirty="0"/>
          </a:p>
        </p:txBody>
      </p:sp>
      <p:sp>
        <p:nvSpPr>
          <p:cNvPr id="18" name="Shape 16"/>
          <p:cNvSpPr/>
          <p:nvPr/>
        </p:nvSpPr>
        <p:spPr>
          <a:xfrm>
            <a:off x="5669280" y="3557016"/>
            <a:ext cx="201168" cy="201168"/>
          </a:xfrm>
          <a:prstGeom prst="ellipse">
            <a:avLst/>
          </a:prstGeom>
          <a:solidFill>
            <a:srgbClr val="D97706"/>
          </a:solidFill>
          <a:ln w="12700">
            <a:solidFill>
              <a:srgbClr val="D97706"/>
            </a:solidFill>
            <a:prstDash val="solid"/>
          </a:ln>
        </p:spPr>
        <p:txBody>
          <a:bodyPr/>
          <a:lstStyle/>
          <a:p>
            <a:endParaRPr lang="en-US"/>
          </a:p>
        </p:txBody>
      </p:sp>
      <p:sp>
        <p:nvSpPr>
          <p:cNvPr id="19" name="Text 17"/>
          <p:cNvSpPr/>
          <p:nvPr/>
        </p:nvSpPr>
        <p:spPr>
          <a:xfrm>
            <a:off x="5943600" y="3511296"/>
            <a:ext cx="2651760" cy="43891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But it failed to output clean YAML (prose prefix broke the parser)</a:t>
            </a:r>
            <a:endParaRPr lang="en-US" sz="1100" dirty="0"/>
          </a:p>
        </p:txBody>
      </p:sp>
      <p:sp>
        <p:nvSpPr>
          <p:cNvPr id="20" name="Shape 18"/>
          <p:cNvSpPr/>
          <p:nvPr/>
        </p:nvSpPr>
        <p:spPr>
          <a:xfrm>
            <a:off x="5669280" y="4087368"/>
            <a:ext cx="201168" cy="201168"/>
          </a:xfrm>
          <a:prstGeom prst="ellipse">
            <a:avLst/>
          </a:prstGeom>
          <a:solidFill>
            <a:srgbClr val="D97706"/>
          </a:solidFill>
          <a:ln w="12700">
            <a:solidFill>
              <a:srgbClr val="D97706"/>
            </a:solidFill>
            <a:prstDash val="solid"/>
          </a:ln>
        </p:spPr>
        <p:txBody>
          <a:bodyPr/>
          <a:lstStyle/>
          <a:p>
            <a:endParaRPr lang="en-US"/>
          </a:p>
        </p:txBody>
      </p:sp>
      <p:sp>
        <p:nvSpPr>
          <p:cNvPr id="21" name="Text 19"/>
          <p:cNvSpPr/>
          <p:nvPr/>
        </p:nvSpPr>
        <p:spPr>
          <a:xfrm>
            <a:off x="5943600" y="4041648"/>
            <a:ext cx="2651760" cy="438912"/>
          </a:xfrm>
          <a:prstGeom prst="rect">
            <a:avLst/>
          </a:prstGeom>
          <a:noFill/>
          <a:ln/>
        </p:spPr>
        <p:txBody>
          <a:bodyPr wrap="square" rtlCol="0" anchor="ctr"/>
          <a:lstStyle/>
          <a:p>
            <a:pPr marL="0" indent="0">
              <a:buNone/>
            </a:pPr>
            <a:r>
              <a:rPr lang="en-US" sz="1100" dirty="0">
                <a:solidFill>
                  <a:srgbClr val="E2E8F0"/>
                </a:solidFill>
                <a:latin typeface="Calibri" pitchFamily="34" charset="0"/>
                <a:ea typeface="Calibri" pitchFamily="34" charset="-122"/>
                <a:cs typeface="Calibri" pitchFamily="34" charset="-120"/>
              </a:rPr>
              <a:t>This happened 6 times — each island independently discovered the same behavior</a:t>
            </a:r>
            <a:endParaRPr lang="en-US" sz="1100" dirty="0"/>
          </a:p>
        </p:txBody>
      </p:sp>
      <p:sp>
        <p:nvSpPr>
          <p:cNvPr id="22" name="Shape 20"/>
          <p:cNvSpPr/>
          <p:nvPr/>
        </p:nvSpPr>
        <p:spPr>
          <a:xfrm>
            <a:off x="365760" y="4526280"/>
            <a:ext cx="8412480" cy="566928"/>
          </a:xfrm>
          <a:prstGeom prst="roundRect">
            <a:avLst>
              <a:gd name="adj" fmla="val 12903"/>
            </a:avLst>
          </a:prstGeom>
          <a:solidFill>
            <a:srgbClr val="0D1B5E"/>
          </a:solidFill>
          <a:ln w="12700">
            <a:solidFill>
              <a:srgbClr val="0EA5E9"/>
            </a:solidFill>
            <a:prstDash val="solid"/>
          </a:ln>
        </p:spPr>
        <p:txBody>
          <a:bodyPr/>
          <a:lstStyle/>
          <a:p>
            <a:endParaRPr lang="en-US"/>
          </a:p>
        </p:txBody>
      </p:sp>
      <p:sp>
        <p:nvSpPr>
          <p:cNvPr id="23" name="Text 21"/>
          <p:cNvSpPr/>
          <p:nvPr/>
        </p:nvSpPr>
        <p:spPr>
          <a:xfrm>
            <a:off x="548640" y="4544568"/>
            <a:ext cx="8046720" cy="521208"/>
          </a:xfrm>
          <a:prstGeom prst="rect">
            <a:avLst/>
          </a:prstGeom>
          <a:noFill/>
          <a:ln/>
        </p:spPr>
        <p:txBody>
          <a:bodyPr wrap="square" rtlCol="0" anchor="ctr"/>
          <a:lstStyle/>
          <a:p>
            <a:pPr marL="0" indent="0">
              <a:buNone/>
            </a:pPr>
            <a:r>
              <a:rPr lang="en-US" sz="1200" dirty="0">
                <a:solidFill>
                  <a:srgbClr val="0EA5E9"/>
                </a:solidFill>
                <a:latin typeface="Calibri" pitchFamily="34" charset="0"/>
                <a:ea typeface="Calibri" pitchFamily="34" charset="-122"/>
                <a:cs typeface="Calibri" pitchFamily="34" charset="-120"/>
              </a:rPr>
              <a:t>Fix (1 line in system prompt): 'Output ONLY valid YAML. Do not write any analysis before or after the YAML content.' — would have prevented all 6 failures.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37160"/>
            <a:ext cx="6858000" cy="566928"/>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Gen 4 Breakthrough: The Best Program  (0.9128)</a:t>
            </a:r>
            <a:endParaRPr lang="en-US" sz="2600" dirty="0"/>
          </a:p>
        </p:txBody>
      </p:sp>
      <p:sp>
        <p:nvSpPr>
          <p:cNvPr id="3" name="Shape 1"/>
          <p:cNvSpPr/>
          <p:nvPr/>
        </p:nvSpPr>
        <p:spPr>
          <a:xfrm>
            <a:off x="7315200" y="109728"/>
            <a:ext cx="1463040" cy="621792"/>
          </a:xfrm>
          <a:prstGeom prst="roundRect">
            <a:avLst>
              <a:gd name="adj" fmla="val 14706"/>
            </a:avLst>
          </a:prstGeom>
          <a:solidFill>
            <a:srgbClr val="F0FDF4"/>
          </a:solidFill>
          <a:ln w="12700">
            <a:solidFill>
              <a:srgbClr val="059669"/>
            </a:solidFill>
            <a:prstDash val="solid"/>
          </a:ln>
        </p:spPr>
        <p:txBody>
          <a:bodyPr/>
          <a:lstStyle/>
          <a:p>
            <a:endParaRPr lang="en-US"/>
          </a:p>
        </p:txBody>
      </p:sp>
      <p:sp>
        <p:nvSpPr>
          <p:cNvPr id="4" name="Text 2"/>
          <p:cNvSpPr/>
          <p:nvPr/>
        </p:nvSpPr>
        <p:spPr>
          <a:xfrm>
            <a:off x="7315200" y="109728"/>
            <a:ext cx="1463040" cy="621792"/>
          </a:xfrm>
          <a:prstGeom prst="rect">
            <a:avLst/>
          </a:prstGeom>
          <a:noFill/>
          <a:ln/>
        </p:spPr>
        <p:txBody>
          <a:bodyPr wrap="square" rtlCol="0" anchor="ctr"/>
          <a:lstStyle/>
          <a:p>
            <a:pPr marL="0" indent="0" algn="ctr">
              <a:buNone/>
            </a:pPr>
            <a:r>
              <a:rPr lang="en-US" sz="1600" b="1" dirty="0">
                <a:solidFill>
                  <a:srgbClr val="059669"/>
                </a:solidFill>
                <a:latin typeface="Calibri" pitchFamily="34" charset="0"/>
                <a:ea typeface="Calibri" pitchFamily="34" charset="-122"/>
                <a:cs typeface="Calibri" pitchFamily="34" charset="-120"/>
              </a:rPr>
              <a:t>🏆 0.9128</a:t>
            </a:r>
            <a:endParaRPr lang="en-US" sz="1600" dirty="0"/>
          </a:p>
        </p:txBody>
      </p:sp>
      <p:sp>
        <p:nvSpPr>
          <p:cNvPr id="5" name="Text 3"/>
          <p:cNvSpPr/>
          <p:nvPr/>
        </p:nvSpPr>
        <p:spPr>
          <a:xfrm>
            <a:off x="457200" y="731520"/>
            <a:ext cx="822960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Program 2dd64847  |  Gen 4, Island 2  |  Parent: 9e97cc6b (score 0.8327 — the WORST valid program!)</a:t>
            </a:r>
            <a:endParaRPr lang="en-US" sz="1200" dirty="0"/>
          </a:p>
        </p:txBody>
      </p:sp>
      <p:sp>
        <p:nvSpPr>
          <p:cNvPr id="6" name="Shape 4"/>
          <p:cNvSpPr/>
          <p:nvPr/>
        </p:nvSpPr>
        <p:spPr>
          <a:xfrm>
            <a:off x="274320" y="1115568"/>
            <a:ext cx="4251960" cy="3657600"/>
          </a:xfrm>
          <a:prstGeom prst="roundRect">
            <a:avLst>
              <a:gd name="adj" fmla="val 3000"/>
            </a:avLst>
          </a:prstGeom>
          <a:solidFill>
            <a:srgbClr val="FEF2F2"/>
          </a:solidFill>
          <a:ln w="12700">
            <a:solidFill>
              <a:srgbClr val="DC2626"/>
            </a:solidFill>
            <a:prstDash val="solid"/>
          </a:ln>
          <a:effectLst>
            <a:outerShdw blurRad="63500" dist="25400" dir="2700000" algn="bl" rotWithShape="0">
              <a:srgbClr val="000000">
                <a:alpha val="12000"/>
              </a:srgbClr>
            </a:outerShdw>
          </a:effectLst>
        </p:spPr>
        <p:txBody>
          <a:bodyPr/>
          <a:lstStyle/>
          <a:p>
            <a:endParaRPr lang="en-US"/>
          </a:p>
        </p:txBody>
      </p:sp>
      <p:sp>
        <p:nvSpPr>
          <p:cNvPr id="7" name="Text 5"/>
          <p:cNvSpPr/>
          <p:nvPr/>
        </p:nvSpPr>
        <p:spPr>
          <a:xfrm>
            <a:off x="411480" y="1188720"/>
            <a:ext cx="3977640" cy="502920"/>
          </a:xfrm>
          <a:prstGeom prst="rect">
            <a:avLst/>
          </a:prstGeom>
          <a:noFill/>
          <a:ln/>
        </p:spPr>
        <p:txBody>
          <a:bodyPr wrap="square"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Parent (0.8327) — Gen 3, Island 2 — COMPLEX</a:t>
            </a:r>
            <a:endParaRPr lang="en-US" sz="1200" dirty="0"/>
          </a:p>
        </p:txBody>
      </p:sp>
      <p:sp>
        <p:nvSpPr>
          <p:cNvPr id="8" name="Shape 6"/>
          <p:cNvSpPr/>
          <p:nvPr/>
        </p:nvSpPr>
        <p:spPr>
          <a:xfrm>
            <a:off x="411480" y="1764792"/>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9" name="Text 7"/>
          <p:cNvSpPr/>
          <p:nvPr/>
        </p:nvSpPr>
        <p:spPr>
          <a:xfrm>
            <a:off x="502920" y="1801368"/>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9 user types (including TYPE_I NOVICE)</a:t>
            </a:r>
            <a:endParaRPr lang="en-US" sz="1050" dirty="0"/>
          </a:p>
        </p:txBody>
      </p:sp>
      <p:sp>
        <p:nvSpPr>
          <p:cNvPr id="10" name="Shape 8"/>
          <p:cNvSpPr/>
          <p:nvPr/>
        </p:nvSpPr>
        <p:spPr>
          <a:xfrm>
            <a:off x="411480" y="2249424"/>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11" name="Text 9"/>
          <p:cNvSpPr/>
          <p:nvPr/>
        </p:nvSpPr>
        <p:spPr>
          <a:xfrm>
            <a:off x="502920" y="2286000"/>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10 item types (including NEW_ARRIVAL)</a:t>
            </a:r>
            <a:endParaRPr lang="en-US" sz="1050" dirty="0"/>
          </a:p>
        </p:txBody>
      </p:sp>
      <p:sp>
        <p:nvSpPr>
          <p:cNvPr id="12" name="Shape 10"/>
          <p:cNvSpPr/>
          <p:nvPr/>
        </p:nvSpPr>
        <p:spPr>
          <a:xfrm>
            <a:off x="411480" y="2734056"/>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13" name="Text 11"/>
          <p:cNvSpPr/>
          <p:nvPr/>
        </p:nvSpPr>
        <p:spPr>
          <a:xfrm>
            <a:off x="502920" y="2770632"/>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18 prediction cases (CASE A–R)</a:t>
            </a:r>
            <a:endParaRPr lang="en-US" sz="1050" dirty="0"/>
          </a:p>
        </p:txBody>
      </p:sp>
      <p:sp>
        <p:nvSpPr>
          <p:cNvPr id="14" name="Shape 12"/>
          <p:cNvSpPr/>
          <p:nvPr/>
        </p:nvSpPr>
        <p:spPr>
          <a:xfrm>
            <a:off x="411480" y="3218688"/>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15" name="Text 13"/>
          <p:cNvSpPr/>
          <p:nvPr/>
        </p:nvSpPr>
        <p:spPr>
          <a:xfrm>
            <a:off x="502920" y="3255264"/>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extreme_rating_tendency DNA field</a:t>
            </a:r>
            <a:endParaRPr lang="en-US" sz="1050" dirty="0"/>
          </a:p>
        </p:txBody>
      </p:sp>
      <p:sp>
        <p:nvSpPr>
          <p:cNvPr id="16" name="Shape 14"/>
          <p:cNvSpPr/>
          <p:nvPr/>
        </p:nvSpPr>
        <p:spPr>
          <a:xfrm>
            <a:off x="411480" y="3703320"/>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17" name="Text 15"/>
          <p:cNvSpPr/>
          <p:nvPr/>
        </p:nvSpPr>
        <p:spPr>
          <a:xfrm>
            <a:off x="502920" y="3739896"/>
            <a:ext cx="3794760" cy="365760"/>
          </a:xfrm>
          <a:prstGeom prst="rect">
            <a:avLst/>
          </a:prstGeom>
          <a:noFill/>
          <a:ln/>
        </p:spPr>
        <p:txBody>
          <a:bodyPr wrap="square"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 OPTIMISM_BIAS rule</a:t>
            </a:r>
            <a:endParaRPr lang="en-US" sz="1050" dirty="0"/>
          </a:p>
        </p:txBody>
      </p:sp>
      <p:sp>
        <p:nvSpPr>
          <p:cNvPr id="18" name="Shape 16"/>
          <p:cNvSpPr/>
          <p:nvPr/>
        </p:nvSpPr>
        <p:spPr>
          <a:xfrm>
            <a:off x="411480" y="4187952"/>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19" name="Text 17"/>
          <p:cNvSpPr/>
          <p:nvPr/>
        </p:nvSpPr>
        <p:spPr>
          <a:xfrm>
            <a:off x="502920" y="4224528"/>
            <a:ext cx="3794760" cy="365760"/>
          </a:xfrm>
          <a:prstGeom prst="rect">
            <a:avLst/>
          </a:prstGeom>
          <a:noFill/>
          <a:ln/>
        </p:spPr>
        <p:txBody>
          <a:bodyPr wrap="square"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 ANCHORING BIAS rule</a:t>
            </a:r>
            <a:endParaRPr lang="en-US" sz="1050" dirty="0"/>
          </a:p>
        </p:txBody>
      </p:sp>
      <p:sp>
        <p:nvSpPr>
          <p:cNvPr id="20" name="Shape 18"/>
          <p:cNvSpPr/>
          <p:nvPr/>
        </p:nvSpPr>
        <p:spPr>
          <a:xfrm>
            <a:off x="4754880" y="1115568"/>
            <a:ext cx="4251960" cy="3657600"/>
          </a:xfrm>
          <a:prstGeom prst="roundRect">
            <a:avLst>
              <a:gd name="adj" fmla="val 3000"/>
            </a:avLst>
          </a:prstGeom>
          <a:solidFill>
            <a:srgbClr val="F0FDF4"/>
          </a:solidFill>
          <a:ln w="12700">
            <a:solidFill>
              <a:srgbClr val="059669"/>
            </a:solidFill>
            <a:prstDash val="solid"/>
          </a:ln>
          <a:effectLst>
            <a:outerShdw blurRad="63500" dist="25400" dir="2700000" algn="bl" rotWithShape="0">
              <a:srgbClr val="000000">
                <a:alpha val="12000"/>
              </a:srgbClr>
            </a:outerShdw>
          </a:effectLst>
        </p:spPr>
        <p:txBody>
          <a:bodyPr/>
          <a:lstStyle/>
          <a:p>
            <a:endParaRPr lang="en-US"/>
          </a:p>
        </p:txBody>
      </p:sp>
      <p:sp>
        <p:nvSpPr>
          <p:cNvPr id="21" name="Text 19"/>
          <p:cNvSpPr/>
          <p:nvPr/>
        </p:nvSpPr>
        <p:spPr>
          <a:xfrm>
            <a:off x="4892040" y="1188720"/>
            <a:ext cx="3977640" cy="5029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Best Program (0.9128) — Gen 4, Island 2 — SIMPLIFIED</a:t>
            </a:r>
            <a:endParaRPr lang="en-US" sz="1200" dirty="0"/>
          </a:p>
        </p:txBody>
      </p:sp>
      <p:sp>
        <p:nvSpPr>
          <p:cNvPr id="22" name="Shape 20"/>
          <p:cNvSpPr/>
          <p:nvPr/>
        </p:nvSpPr>
        <p:spPr>
          <a:xfrm>
            <a:off x="4892040" y="1764792"/>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23" name="Text 21"/>
          <p:cNvSpPr/>
          <p:nvPr/>
        </p:nvSpPr>
        <p:spPr>
          <a:xfrm>
            <a:off x="4983480" y="1801368"/>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6 user types (removed NOVICE, LOYAL, SKEPTICAL)</a:t>
            </a:r>
            <a:endParaRPr lang="en-US" sz="1050" dirty="0"/>
          </a:p>
        </p:txBody>
      </p:sp>
      <p:sp>
        <p:nvSpPr>
          <p:cNvPr id="24" name="Shape 22"/>
          <p:cNvSpPr/>
          <p:nvPr/>
        </p:nvSpPr>
        <p:spPr>
          <a:xfrm>
            <a:off x="4892040" y="2249424"/>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25" name="Text 23"/>
          <p:cNvSpPr/>
          <p:nvPr/>
        </p:nvSpPr>
        <p:spPr>
          <a:xfrm>
            <a:off x="4983480" y="2286000"/>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6 item types (removed HIDDEN_GEM, ESTABLISHED, RISING, BUDGET, NEW)</a:t>
            </a:r>
            <a:endParaRPr lang="en-US" sz="1050" dirty="0"/>
          </a:p>
        </p:txBody>
      </p:sp>
      <p:sp>
        <p:nvSpPr>
          <p:cNvPr id="26" name="Shape 24"/>
          <p:cNvSpPr/>
          <p:nvPr/>
        </p:nvSpPr>
        <p:spPr>
          <a:xfrm>
            <a:off x="4892040" y="2734056"/>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27" name="Text 25"/>
          <p:cNvSpPr/>
          <p:nvPr/>
        </p:nvSpPr>
        <p:spPr>
          <a:xfrm>
            <a:off x="4983480" y="2770632"/>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12 prediction cases (removed O,P,Q,R)</a:t>
            </a:r>
            <a:endParaRPr lang="en-US" sz="1050" dirty="0"/>
          </a:p>
        </p:txBody>
      </p:sp>
      <p:sp>
        <p:nvSpPr>
          <p:cNvPr id="28" name="Shape 26"/>
          <p:cNvSpPr/>
          <p:nvPr/>
        </p:nvSpPr>
        <p:spPr>
          <a:xfrm>
            <a:off x="4892040" y="3218688"/>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29" name="Text 27"/>
          <p:cNvSpPr/>
          <p:nvPr/>
        </p:nvSpPr>
        <p:spPr>
          <a:xfrm>
            <a:off x="4983480" y="3255264"/>
            <a:ext cx="3794760" cy="365760"/>
          </a:xfrm>
          <a:prstGeom prst="rect">
            <a:avLst/>
          </a:prstGeom>
          <a:noFill/>
          <a:ln/>
        </p:spPr>
        <p:txBody>
          <a:bodyPr wrap="square" rtlCol="0" anchor="ctr"/>
          <a:lstStyle/>
          <a:p>
            <a:pPr marL="0" indent="0">
              <a:buNone/>
            </a:pPr>
            <a:r>
              <a:rPr lang="en-US" sz="1050" dirty="0">
                <a:solidFill>
                  <a:srgbClr val="1E293B"/>
                </a:solidFill>
                <a:latin typeface="Calibri" pitchFamily="34" charset="0"/>
                <a:ea typeface="Calibri" pitchFamily="34" charset="-122"/>
                <a:cs typeface="Calibri" pitchFamily="34" charset="-120"/>
              </a:rPr>
              <a:t>✓ Capability-based DNA (not numeric weights)</a:t>
            </a:r>
            <a:endParaRPr lang="en-US" sz="1050" dirty="0"/>
          </a:p>
        </p:txBody>
      </p:sp>
      <p:sp>
        <p:nvSpPr>
          <p:cNvPr id="30" name="Shape 28"/>
          <p:cNvSpPr/>
          <p:nvPr/>
        </p:nvSpPr>
        <p:spPr>
          <a:xfrm>
            <a:off x="4892040" y="3703320"/>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31" name="Text 29"/>
          <p:cNvSpPr/>
          <p:nvPr/>
        </p:nvSpPr>
        <p:spPr>
          <a:xfrm>
            <a:off x="4983480" y="3739896"/>
            <a:ext cx="3794760" cy="365760"/>
          </a:xfrm>
          <a:prstGeom prst="rect">
            <a:avLst/>
          </a:prstGeom>
          <a:noFill/>
          <a:ln/>
        </p:spPr>
        <p:txBody>
          <a:bodyPr wrap="square"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 NEW: TYPE_F RECENCY_BOOSTER (positivity drift)</a:t>
            </a:r>
            <a:endParaRPr lang="en-US" sz="1050" dirty="0"/>
          </a:p>
        </p:txBody>
      </p:sp>
      <p:sp>
        <p:nvSpPr>
          <p:cNvPr id="32" name="Shape 30"/>
          <p:cNvSpPr/>
          <p:nvPr/>
        </p:nvSpPr>
        <p:spPr>
          <a:xfrm>
            <a:off x="4892040" y="4187952"/>
            <a:ext cx="3977640" cy="438912"/>
          </a:xfrm>
          <a:prstGeom prst="roundRect">
            <a:avLst>
              <a:gd name="adj" fmla="val 14583"/>
            </a:avLst>
          </a:prstGeom>
          <a:solidFill>
            <a:srgbClr val="FFFFFF"/>
          </a:solidFill>
          <a:ln w="12700">
            <a:solidFill>
              <a:srgbClr val="E2E8F0"/>
            </a:solidFill>
            <a:prstDash val="solid"/>
          </a:ln>
        </p:spPr>
        <p:txBody>
          <a:bodyPr/>
          <a:lstStyle/>
          <a:p>
            <a:endParaRPr lang="en-US"/>
          </a:p>
        </p:txBody>
      </p:sp>
      <p:sp>
        <p:nvSpPr>
          <p:cNvPr id="33" name="Text 31"/>
          <p:cNvSpPr/>
          <p:nvPr/>
        </p:nvSpPr>
        <p:spPr>
          <a:xfrm>
            <a:off x="4983480" y="4224528"/>
            <a:ext cx="3794760" cy="365760"/>
          </a:xfrm>
          <a:prstGeom prst="rect">
            <a:avLst/>
          </a:prstGeom>
          <a:noFill/>
          <a:ln/>
        </p:spPr>
        <p:txBody>
          <a:bodyPr wrap="square"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 NEW: EMERGING_TREND item (review surge business)</a:t>
            </a:r>
            <a:endParaRPr lang="en-US" sz="1050" dirty="0"/>
          </a:p>
        </p:txBody>
      </p:sp>
      <p:sp>
        <p:nvSpPr>
          <p:cNvPr id="34" name="Text 32"/>
          <p:cNvSpPr/>
          <p:nvPr/>
        </p:nvSpPr>
        <p:spPr>
          <a:xfrm>
            <a:off x="4407408" y="2651760"/>
            <a:ext cx="320040" cy="457200"/>
          </a:xfrm>
          <a:prstGeom prst="rect">
            <a:avLst/>
          </a:prstGeom>
          <a:noFill/>
          <a:ln/>
        </p:spPr>
        <p:txBody>
          <a:bodyPr wrap="square" rtlCol="0" anchor="ctr"/>
          <a:lstStyle/>
          <a:p>
            <a:pPr marL="0" indent="0" algn="ctr">
              <a:buNone/>
            </a:pPr>
            <a:r>
              <a:rPr lang="en-US" sz="2200" b="1" dirty="0">
                <a:solidFill>
                  <a:srgbClr val="059669"/>
                </a:solidFill>
                <a:latin typeface="Calibri" pitchFamily="34" charset="0"/>
                <a:ea typeface="Calibri" pitchFamily="34" charset="-122"/>
                <a:cs typeface="Calibri" pitchFamily="34" charset="-120"/>
              </a:rPr>
              <a:t>→</a:t>
            </a:r>
            <a:endParaRPr lang="en-US" sz="2200" dirty="0"/>
          </a:p>
        </p:txBody>
      </p:sp>
      <p:sp>
        <p:nvSpPr>
          <p:cNvPr id="35" name="Shape 33"/>
          <p:cNvSpPr/>
          <p:nvPr/>
        </p:nvSpPr>
        <p:spPr>
          <a:xfrm>
            <a:off x="274320" y="4828032"/>
            <a:ext cx="8595360" cy="320040"/>
          </a:xfrm>
          <a:prstGeom prst="roundRect">
            <a:avLst>
              <a:gd name="adj" fmla="val 22857"/>
            </a:avLst>
          </a:prstGeom>
          <a:solidFill>
            <a:srgbClr val="ECFDF5"/>
          </a:solidFill>
          <a:ln w="12700">
            <a:solidFill>
              <a:srgbClr val="059669"/>
            </a:solidFill>
            <a:prstDash val="solid"/>
          </a:ln>
        </p:spPr>
        <p:txBody>
          <a:bodyPr/>
          <a:lstStyle/>
          <a:p>
            <a:endParaRPr lang="en-US"/>
          </a:p>
        </p:txBody>
      </p:sp>
      <p:sp>
        <p:nvSpPr>
          <p:cNvPr id="36" name="Text 34"/>
          <p:cNvSpPr/>
          <p:nvPr/>
        </p:nvSpPr>
        <p:spPr>
          <a:xfrm>
            <a:off x="457200" y="4837176"/>
            <a:ext cx="8321040" cy="292608"/>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  Key finding: the BEST program came from the WORST parent (0.8327 → 0.9128). MAP-Elites preserved the complex program for diversity — it became a springboard for radical simplification.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66928"/>
          </a:xfrm>
          <a:prstGeom prst="rect">
            <a:avLst/>
          </a:prstGeom>
          <a:noFill/>
          <a:ln/>
        </p:spPr>
        <p:txBody>
          <a:bodyPr wrap="square"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3-Island Competition: How Diversity Drove Discovery</a:t>
            </a:r>
            <a:endParaRPr lang="en-US" sz="2700" dirty="0"/>
          </a:p>
        </p:txBody>
      </p:sp>
      <p:sp>
        <p:nvSpPr>
          <p:cNvPr id="3" name="Text 1"/>
          <p:cNvSpPr/>
          <p:nvPr/>
        </p:nvSpPr>
        <p:spPr>
          <a:xfrm>
            <a:off x="457200" y="713232"/>
            <a:ext cx="8229600" cy="347472"/>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Each island evolves independently then shares its best programs every 10 iterations (migration). This prevented convergence to a local optimum.</a:t>
            </a:r>
            <a:endParaRPr lang="en-US" sz="1300" dirty="0"/>
          </a:p>
        </p:txBody>
      </p:sp>
      <p:sp>
        <p:nvSpPr>
          <p:cNvPr id="4" name="Shape 2"/>
          <p:cNvSpPr/>
          <p:nvPr/>
        </p:nvSpPr>
        <p:spPr>
          <a:xfrm>
            <a:off x="274320" y="1170432"/>
            <a:ext cx="2816352" cy="3611880"/>
          </a:xfrm>
          <a:prstGeom prst="roundRect">
            <a:avLst>
              <a:gd name="adj" fmla="val 3896"/>
            </a:avLst>
          </a:prstGeom>
          <a:solidFill>
            <a:srgbClr val="EFF6FF"/>
          </a:solidFill>
          <a:ln w="12700">
            <a:solidFill>
              <a:srgbClr val="93C5FD"/>
            </a:solidFill>
            <a:prstDash val="solid"/>
          </a:ln>
          <a:effectLst>
            <a:outerShdw blurRad="63500" dist="25400" dir="2700000" algn="bl" rotWithShape="0">
              <a:srgbClr val="000000">
                <a:alpha val="12000"/>
              </a:srgbClr>
            </a:outerShdw>
          </a:effectLst>
        </p:spPr>
        <p:txBody>
          <a:bodyPr/>
          <a:lstStyle/>
          <a:p>
            <a:endParaRPr lang="en-US"/>
          </a:p>
        </p:txBody>
      </p:sp>
      <p:sp>
        <p:nvSpPr>
          <p:cNvPr id="5" name="Text 3"/>
          <p:cNvSpPr/>
          <p:nvPr/>
        </p:nvSpPr>
        <p:spPr>
          <a:xfrm>
            <a:off x="365760" y="1234440"/>
            <a:ext cx="2633472" cy="438912"/>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Island 0</a:t>
            </a:r>
            <a:endParaRPr lang="en-US" sz="1600" dirty="0"/>
          </a:p>
        </p:txBody>
      </p:sp>
      <p:sp>
        <p:nvSpPr>
          <p:cNvPr id="6" name="Shape 4"/>
          <p:cNvSpPr/>
          <p:nvPr/>
        </p:nvSpPr>
        <p:spPr>
          <a:xfrm>
            <a:off x="411480" y="1737360"/>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7" name="Text 5"/>
          <p:cNvSpPr/>
          <p:nvPr/>
        </p:nvSpPr>
        <p:spPr>
          <a:xfrm>
            <a:off x="502920" y="1783080"/>
            <a:ext cx="2331720" cy="310896"/>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Programs: 16</a:t>
            </a:r>
            <a:endParaRPr lang="en-US" sz="1300" dirty="0"/>
          </a:p>
        </p:txBody>
      </p:sp>
      <p:sp>
        <p:nvSpPr>
          <p:cNvPr id="8" name="Shape 6"/>
          <p:cNvSpPr/>
          <p:nvPr/>
        </p:nvSpPr>
        <p:spPr>
          <a:xfrm>
            <a:off x="411480" y="2212848"/>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9" name="Text 7"/>
          <p:cNvSpPr/>
          <p:nvPr/>
        </p:nvSpPr>
        <p:spPr>
          <a:xfrm>
            <a:off x="502920" y="2258568"/>
            <a:ext cx="2331720" cy="310896"/>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Best Score: 0.8988</a:t>
            </a:r>
            <a:endParaRPr lang="en-US" sz="1300" dirty="0"/>
          </a:p>
        </p:txBody>
      </p:sp>
      <p:sp>
        <p:nvSpPr>
          <p:cNvPr id="10" name="Shape 8"/>
          <p:cNvSpPr/>
          <p:nvPr/>
        </p:nvSpPr>
        <p:spPr>
          <a:xfrm>
            <a:off x="411480" y="2688336"/>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11" name="Text 9"/>
          <p:cNvSpPr/>
          <p:nvPr/>
        </p:nvSpPr>
        <p:spPr>
          <a:xfrm>
            <a:off x="502920" y="2734056"/>
            <a:ext cx="2331720" cy="310896"/>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Average: 0.7868</a:t>
            </a:r>
            <a:endParaRPr lang="en-US" sz="1300" dirty="0"/>
          </a:p>
        </p:txBody>
      </p:sp>
      <p:sp>
        <p:nvSpPr>
          <p:cNvPr id="12" name="Shape 10"/>
          <p:cNvSpPr/>
          <p:nvPr/>
        </p:nvSpPr>
        <p:spPr>
          <a:xfrm>
            <a:off x="411480" y="3218688"/>
            <a:ext cx="2514600" cy="22860"/>
          </a:xfrm>
          <a:prstGeom prst="rect">
            <a:avLst/>
          </a:prstGeom>
          <a:solidFill>
            <a:srgbClr val="93C5FD"/>
          </a:solidFill>
          <a:ln w="12700">
            <a:solidFill>
              <a:srgbClr val="93C5FD"/>
            </a:solidFill>
            <a:prstDash val="solid"/>
          </a:ln>
        </p:spPr>
        <p:txBody>
          <a:bodyPr/>
          <a:lstStyle/>
          <a:p>
            <a:endParaRPr lang="en-US"/>
          </a:p>
        </p:txBody>
      </p:sp>
      <p:sp>
        <p:nvSpPr>
          <p:cNvPr id="13" name="Text 11"/>
          <p:cNvSpPr/>
          <p:nvPr/>
        </p:nvSpPr>
        <p:spPr>
          <a:xfrm>
            <a:off x="411480" y="3291840"/>
            <a:ext cx="251460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Strategy discovered:</a:t>
            </a:r>
            <a:endParaRPr lang="en-US" sz="1100" dirty="0"/>
          </a:p>
        </p:txBody>
      </p:sp>
      <p:sp>
        <p:nvSpPr>
          <p:cNvPr id="14" name="Text 12"/>
          <p:cNvSpPr/>
          <p:nvPr/>
        </p:nvSpPr>
        <p:spPr>
          <a:xfrm>
            <a:off x="411480" y="3584448"/>
            <a:ext cx="2514600" cy="111556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PRECISION-CALIBRATED approach: kept 5 user types, strict thresholds, minimal cases. Clean, lean policy.</a:t>
            </a:r>
            <a:endParaRPr lang="en-US" sz="1100" dirty="0"/>
          </a:p>
        </p:txBody>
      </p:sp>
      <p:sp>
        <p:nvSpPr>
          <p:cNvPr id="15" name="Shape 13"/>
          <p:cNvSpPr/>
          <p:nvPr/>
        </p:nvSpPr>
        <p:spPr>
          <a:xfrm>
            <a:off x="3246120" y="1170432"/>
            <a:ext cx="2816352" cy="3611880"/>
          </a:xfrm>
          <a:prstGeom prst="roundRect">
            <a:avLst>
              <a:gd name="adj" fmla="val 3896"/>
            </a:avLst>
          </a:prstGeom>
          <a:solidFill>
            <a:srgbClr val="F0FDF4"/>
          </a:solidFill>
          <a:ln w="12700">
            <a:solidFill>
              <a:srgbClr val="86EFAC"/>
            </a:solidFill>
            <a:prstDash val="solid"/>
          </a:ln>
          <a:effectLst>
            <a:outerShdw blurRad="63500" dist="25400" dir="2700000" algn="bl" rotWithShape="0">
              <a:srgbClr val="000000">
                <a:alpha val="12000"/>
              </a:srgbClr>
            </a:outerShdw>
          </a:effectLst>
        </p:spPr>
        <p:txBody>
          <a:bodyPr/>
          <a:lstStyle/>
          <a:p>
            <a:endParaRPr lang="en-US"/>
          </a:p>
        </p:txBody>
      </p:sp>
      <p:sp>
        <p:nvSpPr>
          <p:cNvPr id="16" name="Text 14"/>
          <p:cNvSpPr/>
          <p:nvPr/>
        </p:nvSpPr>
        <p:spPr>
          <a:xfrm>
            <a:off x="3337560" y="1234440"/>
            <a:ext cx="2633472" cy="438912"/>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Island 1</a:t>
            </a:r>
            <a:endParaRPr lang="en-US" sz="1600" dirty="0"/>
          </a:p>
        </p:txBody>
      </p:sp>
      <p:sp>
        <p:nvSpPr>
          <p:cNvPr id="17" name="Shape 15"/>
          <p:cNvSpPr/>
          <p:nvPr/>
        </p:nvSpPr>
        <p:spPr>
          <a:xfrm>
            <a:off x="3383280" y="1737360"/>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18" name="Text 16"/>
          <p:cNvSpPr/>
          <p:nvPr/>
        </p:nvSpPr>
        <p:spPr>
          <a:xfrm>
            <a:off x="3474720" y="1783080"/>
            <a:ext cx="2331720" cy="310896"/>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Programs: 18</a:t>
            </a:r>
            <a:endParaRPr lang="en-US" sz="1300" dirty="0"/>
          </a:p>
        </p:txBody>
      </p:sp>
      <p:sp>
        <p:nvSpPr>
          <p:cNvPr id="19" name="Shape 17"/>
          <p:cNvSpPr/>
          <p:nvPr/>
        </p:nvSpPr>
        <p:spPr>
          <a:xfrm>
            <a:off x="3383280" y="2212848"/>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20" name="Text 18"/>
          <p:cNvSpPr/>
          <p:nvPr/>
        </p:nvSpPr>
        <p:spPr>
          <a:xfrm>
            <a:off x="3474720" y="2258568"/>
            <a:ext cx="2331720" cy="310896"/>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Best Score: 0.8988</a:t>
            </a:r>
            <a:endParaRPr lang="en-US" sz="1300" dirty="0"/>
          </a:p>
        </p:txBody>
      </p:sp>
      <p:sp>
        <p:nvSpPr>
          <p:cNvPr id="21" name="Shape 19"/>
          <p:cNvSpPr/>
          <p:nvPr/>
        </p:nvSpPr>
        <p:spPr>
          <a:xfrm>
            <a:off x="3383280" y="2688336"/>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22" name="Text 20"/>
          <p:cNvSpPr/>
          <p:nvPr/>
        </p:nvSpPr>
        <p:spPr>
          <a:xfrm>
            <a:off x="3474720" y="2734056"/>
            <a:ext cx="2331720" cy="310896"/>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Average: 0.8003</a:t>
            </a:r>
            <a:endParaRPr lang="en-US" sz="1300" dirty="0"/>
          </a:p>
        </p:txBody>
      </p:sp>
      <p:sp>
        <p:nvSpPr>
          <p:cNvPr id="23" name="Shape 21"/>
          <p:cNvSpPr/>
          <p:nvPr/>
        </p:nvSpPr>
        <p:spPr>
          <a:xfrm>
            <a:off x="3383280" y="3218688"/>
            <a:ext cx="2514600" cy="22860"/>
          </a:xfrm>
          <a:prstGeom prst="rect">
            <a:avLst/>
          </a:prstGeom>
          <a:solidFill>
            <a:srgbClr val="86EFAC"/>
          </a:solidFill>
          <a:ln w="12700">
            <a:solidFill>
              <a:srgbClr val="86EFAC"/>
            </a:solidFill>
            <a:prstDash val="solid"/>
          </a:ln>
        </p:spPr>
        <p:txBody>
          <a:bodyPr/>
          <a:lstStyle/>
          <a:p>
            <a:endParaRPr lang="en-US"/>
          </a:p>
        </p:txBody>
      </p:sp>
      <p:sp>
        <p:nvSpPr>
          <p:cNvPr id="24" name="Text 22"/>
          <p:cNvSpPr/>
          <p:nvPr/>
        </p:nvSpPr>
        <p:spPr>
          <a:xfrm>
            <a:off x="3383280" y="3291840"/>
            <a:ext cx="251460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Strategy discovered:</a:t>
            </a:r>
            <a:endParaRPr lang="en-US" sz="1100" dirty="0"/>
          </a:p>
        </p:txBody>
      </p:sp>
      <p:sp>
        <p:nvSpPr>
          <p:cNvPr id="25" name="Text 23"/>
          <p:cNvSpPr/>
          <p:nvPr/>
        </p:nvSpPr>
        <p:spPr>
          <a:xfrm>
            <a:off x="3383280" y="3584448"/>
            <a:ext cx="2514600" cy="111556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Added RECENCY_CRITIC + SERIAL_LOYALIST user types. Slightly richer taxonomy than Island 0 with targeted new archetypes.</a:t>
            </a:r>
            <a:endParaRPr lang="en-US" sz="1100" dirty="0"/>
          </a:p>
        </p:txBody>
      </p:sp>
      <p:sp>
        <p:nvSpPr>
          <p:cNvPr id="26" name="Shape 24"/>
          <p:cNvSpPr/>
          <p:nvPr/>
        </p:nvSpPr>
        <p:spPr>
          <a:xfrm>
            <a:off x="6217920" y="1170432"/>
            <a:ext cx="2816352" cy="3611880"/>
          </a:xfrm>
          <a:prstGeom prst="roundRect">
            <a:avLst>
              <a:gd name="adj" fmla="val 3896"/>
            </a:avLst>
          </a:prstGeom>
          <a:solidFill>
            <a:srgbClr val="FDF4FF"/>
          </a:solidFill>
          <a:ln w="12700">
            <a:solidFill>
              <a:srgbClr val="D8B4FE"/>
            </a:solidFill>
            <a:prstDash val="solid"/>
          </a:ln>
          <a:effectLst>
            <a:outerShdw blurRad="63500" dist="25400" dir="2700000" algn="bl" rotWithShape="0">
              <a:srgbClr val="000000">
                <a:alpha val="12000"/>
              </a:srgbClr>
            </a:outerShdw>
          </a:effectLst>
        </p:spPr>
        <p:txBody>
          <a:bodyPr/>
          <a:lstStyle/>
          <a:p>
            <a:endParaRPr lang="en-US"/>
          </a:p>
        </p:txBody>
      </p:sp>
      <p:sp>
        <p:nvSpPr>
          <p:cNvPr id="27" name="Text 25"/>
          <p:cNvSpPr/>
          <p:nvPr/>
        </p:nvSpPr>
        <p:spPr>
          <a:xfrm>
            <a:off x="6309360" y="1234440"/>
            <a:ext cx="2633472" cy="438912"/>
          </a:xfrm>
          <a:prstGeom prst="rect">
            <a:avLst/>
          </a:prstGeom>
          <a:noFill/>
          <a:ln/>
        </p:spPr>
        <p:txBody>
          <a:bodyPr wrap="square" rtlCol="0" anchor="ctr"/>
          <a:lstStyle/>
          <a:p>
            <a:pPr marL="0" indent="0" algn="ctr">
              <a:buNone/>
            </a:pPr>
            <a:r>
              <a:rPr lang="en-US" sz="1600" b="1" dirty="0">
                <a:solidFill>
                  <a:srgbClr val="1E2761"/>
                </a:solidFill>
                <a:latin typeface="Cambria" pitchFamily="34" charset="0"/>
                <a:ea typeface="Cambria" pitchFamily="34" charset="-122"/>
                <a:cs typeface="Cambria" pitchFamily="34" charset="-120"/>
              </a:rPr>
              <a:t>Island 2  🏆</a:t>
            </a:r>
            <a:endParaRPr lang="en-US" sz="1600" dirty="0"/>
          </a:p>
        </p:txBody>
      </p:sp>
      <p:sp>
        <p:nvSpPr>
          <p:cNvPr id="28" name="Shape 26"/>
          <p:cNvSpPr/>
          <p:nvPr/>
        </p:nvSpPr>
        <p:spPr>
          <a:xfrm>
            <a:off x="6355080" y="1737360"/>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29" name="Text 27"/>
          <p:cNvSpPr/>
          <p:nvPr/>
        </p:nvSpPr>
        <p:spPr>
          <a:xfrm>
            <a:off x="6446520" y="1783080"/>
            <a:ext cx="2331720" cy="310896"/>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Programs: 13</a:t>
            </a:r>
            <a:endParaRPr lang="en-US" sz="1300" dirty="0"/>
          </a:p>
        </p:txBody>
      </p:sp>
      <p:sp>
        <p:nvSpPr>
          <p:cNvPr id="30" name="Shape 28"/>
          <p:cNvSpPr/>
          <p:nvPr/>
        </p:nvSpPr>
        <p:spPr>
          <a:xfrm>
            <a:off x="6355080" y="2212848"/>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31" name="Text 29"/>
          <p:cNvSpPr/>
          <p:nvPr/>
        </p:nvSpPr>
        <p:spPr>
          <a:xfrm>
            <a:off x="6446520" y="2258568"/>
            <a:ext cx="2331720" cy="310896"/>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Best Score: 0.9128</a:t>
            </a:r>
            <a:endParaRPr lang="en-US" sz="1300" dirty="0"/>
          </a:p>
        </p:txBody>
      </p:sp>
      <p:sp>
        <p:nvSpPr>
          <p:cNvPr id="32" name="Shape 30"/>
          <p:cNvSpPr/>
          <p:nvPr/>
        </p:nvSpPr>
        <p:spPr>
          <a:xfrm>
            <a:off x="6355080" y="2688336"/>
            <a:ext cx="2514600" cy="402336"/>
          </a:xfrm>
          <a:prstGeom prst="roundRect">
            <a:avLst>
              <a:gd name="adj" fmla="val 15909"/>
            </a:avLst>
          </a:prstGeom>
          <a:solidFill>
            <a:srgbClr val="FFFFFF"/>
          </a:solidFill>
          <a:ln w="12700">
            <a:solidFill>
              <a:srgbClr val="E2E8F0"/>
            </a:solidFill>
            <a:prstDash val="solid"/>
          </a:ln>
        </p:spPr>
        <p:txBody>
          <a:bodyPr/>
          <a:lstStyle/>
          <a:p>
            <a:endParaRPr lang="en-US"/>
          </a:p>
        </p:txBody>
      </p:sp>
      <p:sp>
        <p:nvSpPr>
          <p:cNvPr id="33" name="Text 31"/>
          <p:cNvSpPr/>
          <p:nvPr/>
        </p:nvSpPr>
        <p:spPr>
          <a:xfrm>
            <a:off x="6446520" y="2734056"/>
            <a:ext cx="2331720" cy="310896"/>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Average: 0.7705</a:t>
            </a:r>
            <a:endParaRPr lang="en-US" sz="1300" dirty="0"/>
          </a:p>
        </p:txBody>
      </p:sp>
      <p:sp>
        <p:nvSpPr>
          <p:cNvPr id="34" name="Shape 32"/>
          <p:cNvSpPr/>
          <p:nvPr/>
        </p:nvSpPr>
        <p:spPr>
          <a:xfrm>
            <a:off x="6355080" y="3218688"/>
            <a:ext cx="2514600" cy="22860"/>
          </a:xfrm>
          <a:prstGeom prst="rect">
            <a:avLst/>
          </a:prstGeom>
          <a:solidFill>
            <a:srgbClr val="D8B4FE"/>
          </a:solidFill>
          <a:ln w="12700">
            <a:solidFill>
              <a:srgbClr val="D8B4FE"/>
            </a:solidFill>
            <a:prstDash val="solid"/>
          </a:ln>
        </p:spPr>
        <p:txBody>
          <a:bodyPr/>
          <a:lstStyle/>
          <a:p>
            <a:endParaRPr lang="en-US"/>
          </a:p>
        </p:txBody>
      </p:sp>
      <p:sp>
        <p:nvSpPr>
          <p:cNvPr id="35" name="Text 33"/>
          <p:cNvSpPr/>
          <p:nvPr/>
        </p:nvSpPr>
        <p:spPr>
          <a:xfrm>
            <a:off x="6355080" y="3291840"/>
            <a:ext cx="2514600" cy="274320"/>
          </a:xfrm>
          <a:prstGeom prst="rect">
            <a:avLst/>
          </a:prstGeom>
          <a:noFill/>
          <a:ln/>
        </p:spPr>
        <p:txBody>
          <a:bodyPr wrap="square"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Strategy discovered:</a:t>
            </a:r>
            <a:endParaRPr lang="en-US" sz="1100" dirty="0"/>
          </a:p>
        </p:txBody>
      </p:sp>
      <p:sp>
        <p:nvSpPr>
          <p:cNvPr id="36" name="Text 34"/>
          <p:cNvSpPr/>
          <p:nvPr/>
        </p:nvSpPr>
        <p:spPr>
          <a:xfrm>
            <a:off x="6355080" y="3584448"/>
            <a:ext cx="2514600" cy="1115568"/>
          </a:xfrm>
          <a:prstGeom prst="rect">
            <a:avLst/>
          </a:prstGeom>
          <a:noFill/>
          <a:ln/>
        </p:spPr>
        <p:txBody>
          <a:bodyPr wrap="square"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Most exploratory. Hosted the worst overfitted program AND the global best. Radical simplification + RECENCY_BOOSTER + EMERGING_TREND = breakthrough.</a:t>
            </a:r>
            <a:endParaRPr lang="en-US" sz="1100" dirty="0"/>
          </a:p>
        </p:txBody>
      </p:sp>
      <p:sp>
        <p:nvSpPr>
          <p:cNvPr id="37" name="Shape 35"/>
          <p:cNvSpPr/>
          <p:nvPr/>
        </p:nvSpPr>
        <p:spPr>
          <a:xfrm>
            <a:off x="274320" y="4828032"/>
            <a:ext cx="8595360" cy="320040"/>
          </a:xfrm>
          <a:prstGeom prst="roundRect">
            <a:avLst>
              <a:gd name="adj" fmla="val 22857"/>
            </a:avLst>
          </a:prstGeom>
          <a:solidFill>
            <a:srgbClr val="EFF6FF"/>
          </a:solidFill>
          <a:ln w="12700">
            <a:solidFill>
              <a:srgbClr val="0EA5E9"/>
            </a:solidFill>
            <a:prstDash val="solid"/>
          </a:ln>
        </p:spPr>
        <p:txBody>
          <a:bodyPr/>
          <a:lstStyle/>
          <a:p>
            <a:endParaRPr lang="en-US"/>
          </a:p>
        </p:txBody>
      </p:sp>
      <p:sp>
        <p:nvSpPr>
          <p:cNvPr id="38" name="Text 36"/>
          <p:cNvSpPr/>
          <p:nvPr/>
        </p:nvSpPr>
        <p:spPr>
          <a:xfrm>
            <a:off x="457200" y="4837176"/>
            <a:ext cx="8321040" cy="292608"/>
          </a:xfrm>
          <a:prstGeom prst="rect">
            <a:avLst/>
          </a:prstGeom>
          <a:noFill/>
          <a:ln/>
        </p:spPr>
        <p:txBody>
          <a:bodyPr wrap="square" rtlCol="0" anchor="ctr"/>
          <a:lstStyle/>
          <a:p>
            <a:pPr marL="0" indent="0">
              <a:buNone/>
            </a:pPr>
            <a:r>
              <a:rPr lang="en-US" sz="1200" dirty="0">
                <a:solidFill>
                  <a:srgbClr val="0EA5E9"/>
                </a:solidFill>
                <a:latin typeface="Calibri" pitchFamily="34" charset="0"/>
                <a:ea typeface="Calibri" pitchFamily="34" charset="-122"/>
                <a:cs typeface="Calibri" pitchFamily="34" charset="-120"/>
              </a:rPr>
              <a:t>Migration (every 10 iterations): Islands shared the PRECISION-CALIBRATED structure. Island 2 adopted this format but took the most aggressive simplification path, finding the global best.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943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OpenEvolve Discovered</a:t>
            </a:r>
            <a:endParaRPr lang="en-US" sz="3200" dirty="0"/>
          </a:p>
        </p:txBody>
      </p:sp>
      <p:sp>
        <p:nvSpPr>
          <p:cNvPr id="3" name="Shape 1"/>
          <p:cNvSpPr/>
          <p:nvPr/>
        </p:nvSpPr>
        <p:spPr>
          <a:xfrm>
            <a:off x="320040" y="841248"/>
            <a:ext cx="2697480" cy="1993392"/>
          </a:xfrm>
          <a:prstGeom prst="roundRect">
            <a:avLst>
              <a:gd name="adj" fmla="val 5505"/>
            </a:avLst>
          </a:prstGeom>
          <a:solidFill>
            <a:srgbClr val="1A2456"/>
          </a:solidFill>
          <a:ln w="12700">
            <a:solidFill>
              <a:srgbClr val="0EA5E9"/>
            </a:solidFill>
            <a:prstDash val="solid"/>
          </a:ln>
        </p:spPr>
        <p:txBody>
          <a:bodyPr/>
          <a:lstStyle/>
          <a:p>
            <a:endParaRPr lang="en-US"/>
          </a:p>
        </p:txBody>
      </p:sp>
      <p:sp>
        <p:nvSpPr>
          <p:cNvPr id="4" name="Shape 2"/>
          <p:cNvSpPr/>
          <p:nvPr/>
        </p:nvSpPr>
        <p:spPr>
          <a:xfrm>
            <a:off x="457200" y="950976"/>
            <a:ext cx="384048" cy="384048"/>
          </a:xfrm>
          <a:prstGeom prst="ellipse">
            <a:avLst/>
          </a:prstGeom>
          <a:solidFill>
            <a:srgbClr val="0EA5E9"/>
          </a:solidFill>
          <a:ln w="12700">
            <a:solidFill>
              <a:srgbClr val="0EA5E9"/>
            </a:solidFill>
            <a:prstDash val="solid"/>
          </a:ln>
        </p:spPr>
        <p:txBody>
          <a:bodyPr/>
          <a:lstStyle/>
          <a:p>
            <a:endParaRPr lang="en-US"/>
          </a:p>
        </p:txBody>
      </p:sp>
      <p:sp>
        <p:nvSpPr>
          <p:cNvPr id="5" name="Text 3"/>
          <p:cNvSpPr/>
          <p:nvPr/>
        </p:nvSpPr>
        <p:spPr>
          <a:xfrm>
            <a:off x="457200" y="950976"/>
            <a:ext cx="384048"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01</a:t>
            </a:r>
            <a:endParaRPr lang="en-US" sz="1200" dirty="0"/>
          </a:p>
        </p:txBody>
      </p:sp>
      <p:sp>
        <p:nvSpPr>
          <p:cNvPr id="6" name="Text 4"/>
          <p:cNvSpPr/>
          <p:nvPr/>
        </p:nvSpPr>
        <p:spPr>
          <a:xfrm>
            <a:off x="960120" y="932688"/>
            <a:ext cx="192024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Capability Descriptions Beat Numeric Weights</a:t>
            </a:r>
            <a:endParaRPr lang="en-US" sz="1250" dirty="0"/>
          </a:p>
        </p:txBody>
      </p:sp>
      <p:sp>
        <p:nvSpPr>
          <p:cNvPr id="7" name="Text 5"/>
          <p:cNvSpPr/>
          <p:nvPr/>
        </p:nvSpPr>
        <p:spPr>
          <a:xfrm>
            <a:off x="484632" y="1463040"/>
            <a:ext cx="2377440" cy="1261872"/>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Gen 0 DNA: 'recency_weight=0.75'. Best program DNA: 'complaint_trigger_sensitivity (1.5× multiplier)'. LLM agents execute natural-language instructions more accurately than they interpret abstract numbers.</a:t>
            </a:r>
            <a:endParaRPr lang="en-US" sz="1150" dirty="0"/>
          </a:p>
        </p:txBody>
      </p:sp>
      <p:sp>
        <p:nvSpPr>
          <p:cNvPr id="8" name="Shape 6"/>
          <p:cNvSpPr/>
          <p:nvPr/>
        </p:nvSpPr>
        <p:spPr>
          <a:xfrm>
            <a:off x="3246120" y="841248"/>
            <a:ext cx="2697480" cy="1993392"/>
          </a:xfrm>
          <a:prstGeom prst="roundRect">
            <a:avLst>
              <a:gd name="adj" fmla="val 5505"/>
            </a:avLst>
          </a:prstGeom>
          <a:solidFill>
            <a:srgbClr val="1A2456"/>
          </a:solidFill>
          <a:ln w="12700">
            <a:solidFill>
              <a:srgbClr val="4ADE80"/>
            </a:solidFill>
            <a:prstDash val="solid"/>
          </a:ln>
        </p:spPr>
        <p:txBody>
          <a:bodyPr/>
          <a:lstStyle/>
          <a:p>
            <a:endParaRPr lang="en-US"/>
          </a:p>
        </p:txBody>
      </p:sp>
      <p:sp>
        <p:nvSpPr>
          <p:cNvPr id="9" name="Shape 7"/>
          <p:cNvSpPr/>
          <p:nvPr/>
        </p:nvSpPr>
        <p:spPr>
          <a:xfrm>
            <a:off x="3383280" y="950976"/>
            <a:ext cx="384048" cy="384048"/>
          </a:xfrm>
          <a:prstGeom prst="ellipse">
            <a:avLst/>
          </a:prstGeom>
          <a:solidFill>
            <a:srgbClr val="4ADE80"/>
          </a:solidFill>
          <a:ln w="12700">
            <a:solidFill>
              <a:srgbClr val="4ADE80"/>
            </a:solidFill>
            <a:prstDash val="solid"/>
          </a:ln>
        </p:spPr>
        <p:txBody>
          <a:bodyPr/>
          <a:lstStyle/>
          <a:p>
            <a:endParaRPr lang="en-US"/>
          </a:p>
        </p:txBody>
      </p:sp>
      <p:sp>
        <p:nvSpPr>
          <p:cNvPr id="10" name="Text 8"/>
          <p:cNvSpPr/>
          <p:nvPr/>
        </p:nvSpPr>
        <p:spPr>
          <a:xfrm>
            <a:off x="3383280" y="950976"/>
            <a:ext cx="384048"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02</a:t>
            </a:r>
            <a:endParaRPr lang="en-US" sz="1200" dirty="0"/>
          </a:p>
        </p:txBody>
      </p:sp>
      <p:sp>
        <p:nvSpPr>
          <p:cNvPr id="11" name="Text 9"/>
          <p:cNvSpPr/>
          <p:nvPr/>
        </p:nvSpPr>
        <p:spPr>
          <a:xfrm>
            <a:off x="3886200" y="932688"/>
            <a:ext cx="192024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Sweet Spot: 6 Types, ~12 Cases</a:t>
            </a:r>
            <a:endParaRPr lang="en-US" sz="1250" dirty="0"/>
          </a:p>
        </p:txBody>
      </p:sp>
      <p:sp>
        <p:nvSpPr>
          <p:cNvPr id="12" name="Text 10"/>
          <p:cNvSpPr/>
          <p:nvPr/>
        </p:nvSpPr>
        <p:spPr>
          <a:xfrm>
            <a:off x="3410712" y="1463040"/>
            <a:ext cx="2377440" cy="1261872"/>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Too few archetypes (4) = blind spots. Too many (11) = overloaded reasoning. Optimal for 1-task evaluation: ~6 user types, ~6 item types, ~12 cases. Occam's Razor found automatically.</a:t>
            </a:r>
            <a:endParaRPr lang="en-US" sz="1150" dirty="0"/>
          </a:p>
        </p:txBody>
      </p:sp>
      <p:sp>
        <p:nvSpPr>
          <p:cNvPr id="13" name="Shape 11"/>
          <p:cNvSpPr/>
          <p:nvPr/>
        </p:nvSpPr>
        <p:spPr>
          <a:xfrm>
            <a:off x="6172200" y="841248"/>
            <a:ext cx="2697480" cy="1993392"/>
          </a:xfrm>
          <a:prstGeom prst="roundRect">
            <a:avLst>
              <a:gd name="adj" fmla="val 5505"/>
            </a:avLst>
          </a:prstGeom>
          <a:solidFill>
            <a:srgbClr val="1A2456"/>
          </a:solidFill>
          <a:ln w="12700">
            <a:solidFill>
              <a:srgbClr val="D97706"/>
            </a:solidFill>
            <a:prstDash val="solid"/>
          </a:ln>
        </p:spPr>
        <p:txBody>
          <a:bodyPr/>
          <a:lstStyle/>
          <a:p>
            <a:endParaRPr lang="en-US"/>
          </a:p>
        </p:txBody>
      </p:sp>
      <p:sp>
        <p:nvSpPr>
          <p:cNvPr id="14" name="Shape 12"/>
          <p:cNvSpPr/>
          <p:nvPr/>
        </p:nvSpPr>
        <p:spPr>
          <a:xfrm>
            <a:off x="6309360" y="950976"/>
            <a:ext cx="384048" cy="384048"/>
          </a:xfrm>
          <a:prstGeom prst="ellipse">
            <a:avLst/>
          </a:prstGeom>
          <a:solidFill>
            <a:srgbClr val="D97706"/>
          </a:solidFill>
          <a:ln w="12700">
            <a:solidFill>
              <a:srgbClr val="D97706"/>
            </a:solidFill>
            <a:prstDash val="solid"/>
          </a:ln>
        </p:spPr>
        <p:txBody>
          <a:bodyPr/>
          <a:lstStyle/>
          <a:p>
            <a:endParaRPr lang="en-US"/>
          </a:p>
        </p:txBody>
      </p:sp>
      <p:sp>
        <p:nvSpPr>
          <p:cNvPr id="15" name="Text 13"/>
          <p:cNvSpPr/>
          <p:nvPr/>
        </p:nvSpPr>
        <p:spPr>
          <a:xfrm>
            <a:off x="6309360" y="950976"/>
            <a:ext cx="384048"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03</a:t>
            </a:r>
            <a:endParaRPr lang="en-US" sz="1200" dirty="0"/>
          </a:p>
        </p:txBody>
      </p:sp>
      <p:sp>
        <p:nvSpPr>
          <p:cNvPr id="16" name="Text 14"/>
          <p:cNvSpPr/>
          <p:nvPr/>
        </p:nvSpPr>
        <p:spPr>
          <a:xfrm>
            <a:off x="6812280" y="932688"/>
            <a:ext cx="192024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LLMs Reason About Their Own Evolution</a:t>
            </a:r>
            <a:endParaRPr lang="en-US" sz="1250" dirty="0"/>
          </a:p>
        </p:txBody>
      </p:sp>
      <p:sp>
        <p:nvSpPr>
          <p:cNvPr id="17" name="Text 15"/>
          <p:cNvSpPr/>
          <p:nvPr/>
        </p:nvSpPr>
        <p:spPr>
          <a:xfrm>
            <a:off x="6336792" y="1463040"/>
            <a:ext cx="2377440" cy="1261872"/>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The 6 catastrophic failures (0.2763) occurred because the LLM analyzed past scores correctly ('complexity hurt performance') but output that analysis as prose before the YAML, breaking the parser.</a:t>
            </a:r>
            <a:endParaRPr lang="en-US" sz="1150" dirty="0"/>
          </a:p>
        </p:txBody>
      </p:sp>
      <p:sp>
        <p:nvSpPr>
          <p:cNvPr id="18" name="Shape 16"/>
          <p:cNvSpPr/>
          <p:nvPr/>
        </p:nvSpPr>
        <p:spPr>
          <a:xfrm>
            <a:off x="320040" y="2990088"/>
            <a:ext cx="4041648" cy="1993392"/>
          </a:xfrm>
          <a:prstGeom prst="roundRect">
            <a:avLst>
              <a:gd name="adj" fmla="val 5505"/>
            </a:avLst>
          </a:prstGeom>
          <a:solidFill>
            <a:srgbClr val="1A2456"/>
          </a:solidFill>
          <a:ln w="12700">
            <a:solidFill>
              <a:srgbClr val="A78BFA"/>
            </a:solidFill>
            <a:prstDash val="solid"/>
          </a:ln>
        </p:spPr>
        <p:txBody>
          <a:bodyPr/>
          <a:lstStyle/>
          <a:p>
            <a:endParaRPr lang="en-US"/>
          </a:p>
        </p:txBody>
      </p:sp>
      <p:sp>
        <p:nvSpPr>
          <p:cNvPr id="19" name="Shape 17"/>
          <p:cNvSpPr/>
          <p:nvPr/>
        </p:nvSpPr>
        <p:spPr>
          <a:xfrm>
            <a:off x="457200" y="3099816"/>
            <a:ext cx="384048" cy="384048"/>
          </a:xfrm>
          <a:prstGeom prst="ellipse">
            <a:avLst/>
          </a:prstGeom>
          <a:solidFill>
            <a:srgbClr val="A78BFA"/>
          </a:solidFill>
          <a:ln w="12700">
            <a:solidFill>
              <a:srgbClr val="A78BFA"/>
            </a:solidFill>
            <a:prstDash val="solid"/>
          </a:ln>
        </p:spPr>
        <p:txBody>
          <a:bodyPr/>
          <a:lstStyle/>
          <a:p>
            <a:endParaRPr lang="en-US"/>
          </a:p>
        </p:txBody>
      </p:sp>
      <p:sp>
        <p:nvSpPr>
          <p:cNvPr id="20" name="Text 18"/>
          <p:cNvSpPr/>
          <p:nvPr/>
        </p:nvSpPr>
        <p:spPr>
          <a:xfrm>
            <a:off x="457200" y="3099816"/>
            <a:ext cx="384048"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04</a:t>
            </a:r>
            <a:endParaRPr lang="en-US" sz="1200" dirty="0"/>
          </a:p>
        </p:txBody>
      </p:sp>
      <p:sp>
        <p:nvSpPr>
          <p:cNvPr id="21" name="Text 19"/>
          <p:cNvSpPr/>
          <p:nvPr/>
        </p:nvSpPr>
        <p:spPr>
          <a:xfrm>
            <a:off x="960120" y="3081528"/>
            <a:ext cx="3264408"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Best Result Came From Worst Parent</a:t>
            </a:r>
            <a:endParaRPr lang="en-US" sz="1250" dirty="0"/>
          </a:p>
        </p:txBody>
      </p:sp>
      <p:sp>
        <p:nvSpPr>
          <p:cNvPr id="22" name="Text 20"/>
          <p:cNvSpPr/>
          <p:nvPr/>
        </p:nvSpPr>
        <p:spPr>
          <a:xfrm>
            <a:off x="484632" y="3611880"/>
            <a:ext cx="3721608" cy="1261872"/>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Program 2dd64847 (0.9128) descended from program 9e97cc6b (0.8327 — most complex). MAP-Elites preserved the bad parent for diversity. It became the springboard for the breakthrough simplification.</a:t>
            </a:r>
            <a:endParaRPr lang="en-US" sz="1150" dirty="0"/>
          </a:p>
        </p:txBody>
      </p:sp>
      <p:sp>
        <p:nvSpPr>
          <p:cNvPr id="23" name="Shape 21"/>
          <p:cNvSpPr/>
          <p:nvPr/>
        </p:nvSpPr>
        <p:spPr>
          <a:xfrm>
            <a:off x="4617720" y="2990088"/>
            <a:ext cx="4041648" cy="1993392"/>
          </a:xfrm>
          <a:prstGeom prst="roundRect">
            <a:avLst>
              <a:gd name="adj" fmla="val 5505"/>
            </a:avLst>
          </a:prstGeom>
          <a:solidFill>
            <a:srgbClr val="1A2456"/>
          </a:solidFill>
          <a:ln w="12700">
            <a:solidFill>
              <a:srgbClr val="FB923C"/>
            </a:solidFill>
            <a:prstDash val="solid"/>
          </a:ln>
        </p:spPr>
        <p:txBody>
          <a:bodyPr/>
          <a:lstStyle/>
          <a:p>
            <a:endParaRPr lang="en-US"/>
          </a:p>
        </p:txBody>
      </p:sp>
      <p:sp>
        <p:nvSpPr>
          <p:cNvPr id="24" name="Shape 22"/>
          <p:cNvSpPr/>
          <p:nvPr/>
        </p:nvSpPr>
        <p:spPr>
          <a:xfrm>
            <a:off x="4754880" y="3099816"/>
            <a:ext cx="384048" cy="384048"/>
          </a:xfrm>
          <a:prstGeom prst="ellipse">
            <a:avLst/>
          </a:prstGeom>
          <a:solidFill>
            <a:srgbClr val="FB923C"/>
          </a:solidFill>
          <a:ln w="12700">
            <a:solidFill>
              <a:srgbClr val="FB923C"/>
            </a:solidFill>
            <a:prstDash val="solid"/>
          </a:ln>
        </p:spPr>
        <p:txBody>
          <a:bodyPr/>
          <a:lstStyle/>
          <a:p>
            <a:endParaRPr lang="en-US"/>
          </a:p>
        </p:txBody>
      </p:sp>
      <p:sp>
        <p:nvSpPr>
          <p:cNvPr id="25" name="Text 23"/>
          <p:cNvSpPr/>
          <p:nvPr/>
        </p:nvSpPr>
        <p:spPr>
          <a:xfrm>
            <a:off x="4754880" y="3099816"/>
            <a:ext cx="384048"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05</a:t>
            </a:r>
            <a:endParaRPr lang="en-US" sz="1200" dirty="0"/>
          </a:p>
        </p:txBody>
      </p:sp>
      <p:sp>
        <p:nvSpPr>
          <p:cNvPr id="26" name="Text 24"/>
          <p:cNvSpPr/>
          <p:nvPr/>
        </p:nvSpPr>
        <p:spPr>
          <a:xfrm>
            <a:off x="5257800" y="3081528"/>
            <a:ext cx="3264408"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Cold-Start via Item Signal Works Well</a:t>
            </a:r>
            <a:endParaRPr lang="en-US" sz="1250" dirty="0"/>
          </a:p>
        </p:txBody>
      </p:sp>
      <p:sp>
        <p:nvSpPr>
          <p:cNvPr id="27" name="Text 25"/>
          <p:cNvSpPr/>
          <p:nvPr/>
        </p:nvSpPr>
        <p:spPr>
          <a:xfrm>
            <a:off x="4782312" y="3611880"/>
            <a:ext cx="3721608" cy="1261872"/>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With zero user data, the evolved taxonomy correctly predicted 4.5★ for Anthony's Coal Fired Pizza (ground truth: 5.0★) using only the EXCELLENT item quality verdict (79.9% positive reviews).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566928"/>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Performance Results</a:t>
            </a:r>
            <a:endParaRPr lang="en-US" sz="3200" dirty="0"/>
          </a:p>
        </p:txBody>
      </p:sp>
      <p:sp>
        <p:nvSpPr>
          <p:cNvPr id="3" name="Shape 1"/>
          <p:cNvSpPr/>
          <p:nvPr/>
        </p:nvSpPr>
        <p:spPr>
          <a:xfrm>
            <a:off x="274320" y="822960"/>
            <a:ext cx="2743200" cy="1828800"/>
          </a:xfrm>
          <a:prstGeom prst="roundRect">
            <a:avLst>
              <a:gd name="adj" fmla="val 7500"/>
            </a:avLst>
          </a:prstGeom>
          <a:solidFill>
            <a:srgbClr val="EFF6FF"/>
          </a:solidFill>
          <a:ln w="12700">
            <a:solidFill>
              <a:srgbClr val="0EA5E9"/>
            </a:solidFill>
            <a:prstDash val="solid"/>
          </a:ln>
          <a:effectLst>
            <a:outerShdw blurRad="63500" dist="25400" dir="2700000" algn="bl" rotWithShape="0">
              <a:srgbClr val="000000">
                <a:alpha val="12000"/>
              </a:srgbClr>
            </a:outerShdw>
          </a:effectLst>
        </p:spPr>
        <p:txBody>
          <a:bodyPr/>
          <a:lstStyle/>
          <a:p>
            <a:endParaRPr lang="en-US"/>
          </a:p>
        </p:txBody>
      </p:sp>
      <p:sp>
        <p:nvSpPr>
          <p:cNvPr id="4" name="Text 2"/>
          <p:cNvSpPr/>
          <p:nvPr/>
        </p:nvSpPr>
        <p:spPr>
          <a:xfrm>
            <a:off x="365760" y="886968"/>
            <a:ext cx="2560320"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preference_estimation</a:t>
            </a:r>
            <a:endParaRPr lang="en-US" sz="1200" dirty="0"/>
          </a:p>
        </p:txBody>
      </p:sp>
      <p:sp>
        <p:nvSpPr>
          <p:cNvPr id="5" name="Text 3"/>
          <p:cNvSpPr/>
          <p:nvPr/>
        </p:nvSpPr>
        <p:spPr>
          <a:xfrm>
            <a:off x="274320" y="1261872"/>
            <a:ext cx="2743200" cy="749808"/>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0.9000</a:t>
            </a:r>
            <a:endParaRPr lang="en-US" sz="4000" dirty="0"/>
          </a:p>
        </p:txBody>
      </p:sp>
      <p:sp>
        <p:nvSpPr>
          <p:cNvPr id="6" name="Text 4"/>
          <p:cNvSpPr/>
          <p:nvPr/>
        </p:nvSpPr>
        <p:spPr>
          <a:xfrm>
            <a:off x="365760" y="2011680"/>
            <a:ext cx="2560320" cy="53035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Star rating accuracy</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(error = 0.5 stars on 1 task)</a:t>
            </a:r>
            <a:endParaRPr lang="en-US" sz="1100" dirty="0"/>
          </a:p>
        </p:txBody>
      </p:sp>
      <p:sp>
        <p:nvSpPr>
          <p:cNvPr id="7" name="Shape 5"/>
          <p:cNvSpPr/>
          <p:nvPr/>
        </p:nvSpPr>
        <p:spPr>
          <a:xfrm>
            <a:off x="3246120" y="822960"/>
            <a:ext cx="2743200" cy="1828800"/>
          </a:xfrm>
          <a:prstGeom prst="roundRect">
            <a:avLst>
              <a:gd name="adj" fmla="val 7500"/>
            </a:avLst>
          </a:prstGeom>
          <a:solidFill>
            <a:srgbClr val="F0FDF4"/>
          </a:solidFill>
          <a:ln w="12700">
            <a:solidFill>
              <a:srgbClr val="059669"/>
            </a:solidFill>
            <a:prstDash val="solid"/>
          </a:ln>
          <a:effectLst>
            <a:outerShdw blurRad="63500" dist="25400" dir="2700000" algn="bl" rotWithShape="0">
              <a:srgbClr val="000000">
                <a:alpha val="12000"/>
              </a:srgbClr>
            </a:outerShdw>
          </a:effectLst>
        </p:spPr>
        <p:txBody>
          <a:bodyPr/>
          <a:lstStyle/>
          <a:p>
            <a:endParaRPr lang="en-US"/>
          </a:p>
        </p:txBody>
      </p:sp>
      <p:sp>
        <p:nvSpPr>
          <p:cNvPr id="8" name="Text 6"/>
          <p:cNvSpPr/>
          <p:nvPr/>
        </p:nvSpPr>
        <p:spPr>
          <a:xfrm>
            <a:off x="3337560" y="886968"/>
            <a:ext cx="2560320"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review_generation</a:t>
            </a:r>
            <a:endParaRPr lang="en-US" sz="1200" dirty="0"/>
          </a:p>
        </p:txBody>
      </p:sp>
      <p:sp>
        <p:nvSpPr>
          <p:cNvPr id="9" name="Text 7"/>
          <p:cNvSpPr/>
          <p:nvPr/>
        </p:nvSpPr>
        <p:spPr>
          <a:xfrm>
            <a:off x="3246120" y="1261872"/>
            <a:ext cx="2743200" cy="749808"/>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0.9256</a:t>
            </a:r>
            <a:endParaRPr lang="en-US" sz="4000" dirty="0"/>
          </a:p>
        </p:txBody>
      </p:sp>
      <p:sp>
        <p:nvSpPr>
          <p:cNvPr id="10" name="Text 8"/>
          <p:cNvSpPr/>
          <p:nvPr/>
        </p:nvSpPr>
        <p:spPr>
          <a:xfrm>
            <a:off x="3337560" y="2011680"/>
            <a:ext cx="2560320" cy="53035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Review text quality</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(sentiment + emotion + topic)</a:t>
            </a:r>
            <a:endParaRPr lang="en-US" sz="1100" dirty="0"/>
          </a:p>
        </p:txBody>
      </p:sp>
      <p:sp>
        <p:nvSpPr>
          <p:cNvPr id="11" name="Shape 9"/>
          <p:cNvSpPr/>
          <p:nvPr/>
        </p:nvSpPr>
        <p:spPr>
          <a:xfrm>
            <a:off x="6217920" y="822960"/>
            <a:ext cx="2743200" cy="1828800"/>
          </a:xfrm>
          <a:prstGeom prst="roundRect">
            <a:avLst>
              <a:gd name="adj" fmla="val 7500"/>
            </a:avLst>
          </a:prstGeom>
          <a:solidFill>
            <a:srgbClr val="FDF4FF"/>
          </a:solidFill>
          <a:ln w="12700">
            <a:solidFill>
              <a:srgbClr val="7C3AED"/>
            </a:solidFill>
            <a:prstDash val="solid"/>
          </a:ln>
          <a:effectLst>
            <a:outerShdw blurRad="63500" dist="25400" dir="2700000" algn="bl" rotWithShape="0">
              <a:srgbClr val="000000">
                <a:alpha val="12000"/>
              </a:srgbClr>
            </a:outerShdw>
          </a:effectLst>
        </p:spPr>
        <p:txBody>
          <a:bodyPr/>
          <a:lstStyle/>
          <a:p>
            <a:endParaRPr lang="en-US"/>
          </a:p>
        </p:txBody>
      </p:sp>
      <p:sp>
        <p:nvSpPr>
          <p:cNvPr id="12" name="Text 10"/>
          <p:cNvSpPr/>
          <p:nvPr/>
        </p:nvSpPr>
        <p:spPr>
          <a:xfrm>
            <a:off x="6309360" y="886968"/>
            <a:ext cx="2560320" cy="384048"/>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combined_score</a:t>
            </a:r>
            <a:endParaRPr lang="en-US" sz="1200" dirty="0"/>
          </a:p>
        </p:txBody>
      </p:sp>
      <p:sp>
        <p:nvSpPr>
          <p:cNvPr id="13" name="Text 11"/>
          <p:cNvSpPr/>
          <p:nvPr/>
        </p:nvSpPr>
        <p:spPr>
          <a:xfrm>
            <a:off x="6217920" y="1261872"/>
            <a:ext cx="2743200" cy="749808"/>
          </a:xfrm>
          <a:prstGeom prst="rect">
            <a:avLst/>
          </a:prstGeom>
          <a:noFill/>
          <a:ln/>
        </p:spPr>
        <p:txBody>
          <a:bodyPr wrap="square" rtlCol="0" anchor="ctr"/>
          <a:lstStyle/>
          <a:p>
            <a:pPr marL="0" indent="0" algn="ctr">
              <a:buNone/>
            </a:pPr>
            <a:r>
              <a:rPr lang="en-US" sz="4000" b="1" dirty="0">
                <a:solidFill>
                  <a:srgbClr val="1E2761"/>
                </a:solidFill>
                <a:latin typeface="Cambria" pitchFamily="34" charset="0"/>
                <a:ea typeface="Cambria" pitchFamily="34" charset="-122"/>
                <a:cs typeface="Cambria" pitchFamily="34" charset="-120"/>
              </a:rPr>
              <a:t>0.9128</a:t>
            </a:r>
            <a:endParaRPr lang="en-US" sz="4000" dirty="0"/>
          </a:p>
        </p:txBody>
      </p:sp>
      <p:sp>
        <p:nvSpPr>
          <p:cNvPr id="14" name="Text 12"/>
          <p:cNvSpPr/>
          <p:nvPr/>
        </p:nvSpPr>
        <p:spPr>
          <a:xfrm>
            <a:off x="6309360" y="2011680"/>
            <a:ext cx="2560320" cy="530352"/>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FINAL SCORE</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(avg of both metrics)</a:t>
            </a:r>
            <a:endParaRPr lang="en-US" sz="1100" dirty="0"/>
          </a:p>
        </p:txBody>
      </p:sp>
      <p:graphicFrame>
        <p:nvGraphicFramePr>
          <p:cNvPr id="15" name="Chart 0"/>
          <p:cNvGraphicFramePr/>
          <p:nvPr/>
        </p:nvGraphicFramePr>
        <p:xfrm>
          <a:off x="365760" y="2788920"/>
          <a:ext cx="5303520" cy="21762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806440" y="2788920"/>
          <a:ext cx="2971800" cy="2383536"/>
        </p:xfrm>
        <a:graphic>
          <a:graphicData uri="http://schemas.openxmlformats.org/drawingml/2006/table">
            <a:tbl>
              <a:tblPr/>
              <a:tblGrid>
                <a:gridCol w="16459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3383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38328">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Total programs evaluated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47  (3 islands × 50 iterations)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Generations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7 generations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Best program</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2dd64847  (Gen 4, Island 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Gen 0 → Best improvement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+5.14%  (0.8614 → 0.9128)</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Evaluation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E293B"/>
                          </a:solidFill>
                          <a:latin typeface="Calibri" pitchFamily="34" charset="0"/>
                          <a:ea typeface="Calibri" pitchFamily="34" charset="-122"/>
                          <a:cs typeface="Calibri" pitchFamily="34" charset="-120"/>
                        </a:rPr>
                        <a:t>1 task, TASKS=1 (single-task)</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658368"/>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3" name="Shape 1"/>
          <p:cNvSpPr/>
          <p:nvPr/>
        </p:nvSpPr>
        <p:spPr>
          <a:xfrm>
            <a:off x="365760" y="987552"/>
            <a:ext cx="8412480" cy="1207008"/>
          </a:xfrm>
          <a:prstGeom prst="roundRect">
            <a:avLst>
              <a:gd name="adj" fmla="val 9091"/>
            </a:avLst>
          </a:prstGeom>
          <a:solidFill>
            <a:srgbClr val="2D3E9E"/>
          </a:solidFill>
          <a:ln w="12700">
            <a:solidFill>
              <a:srgbClr val="0EA5E9"/>
            </a:solidFill>
            <a:prstDash val="solid"/>
          </a:ln>
        </p:spPr>
        <p:txBody>
          <a:bodyPr/>
          <a:lstStyle/>
          <a:p>
            <a:endParaRPr lang="en-US"/>
          </a:p>
        </p:txBody>
      </p:sp>
      <p:sp>
        <p:nvSpPr>
          <p:cNvPr id="4" name="Text 2"/>
          <p:cNvSpPr/>
          <p:nvPr/>
        </p:nvSpPr>
        <p:spPr>
          <a:xfrm>
            <a:off x="502920" y="1051560"/>
            <a:ext cx="548640"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5" name="Text 3"/>
          <p:cNvSpPr/>
          <p:nvPr/>
        </p:nvSpPr>
        <p:spPr>
          <a:xfrm>
            <a:off x="1097280" y="1024128"/>
            <a:ext cx="713232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p>
        </p:txBody>
      </p:sp>
      <p:sp>
        <p:nvSpPr>
          <p:cNvPr id="6" name="Text 4"/>
          <p:cNvSpPr/>
          <p:nvPr/>
        </p:nvSpPr>
        <p:spPr>
          <a:xfrm>
            <a:off x="1097280" y="1417320"/>
            <a:ext cx="7315200" cy="6858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A 5-agent CrewAI crew for Yelp review simulation, with the two reasoning agents executing a structured Dual-Axis Taxonomy + Review DNA policy inside their backstories — and OpenEvolve automatically discovering the best version of that policy over 50 iterations across 3 islands.</a:t>
            </a:r>
            <a:endParaRPr lang="en-US" sz="1200" dirty="0"/>
          </a:p>
        </p:txBody>
      </p:sp>
      <p:sp>
        <p:nvSpPr>
          <p:cNvPr id="7" name="Shape 5"/>
          <p:cNvSpPr/>
          <p:nvPr/>
        </p:nvSpPr>
        <p:spPr>
          <a:xfrm>
            <a:off x="365760" y="2313432"/>
            <a:ext cx="8412480" cy="1207008"/>
          </a:xfrm>
          <a:prstGeom prst="roundRect">
            <a:avLst>
              <a:gd name="adj" fmla="val 9091"/>
            </a:avLst>
          </a:prstGeom>
          <a:solidFill>
            <a:srgbClr val="1A4D3E"/>
          </a:solidFill>
          <a:ln w="12700">
            <a:solidFill>
              <a:srgbClr val="059669"/>
            </a:solidFill>
            <a:prstDash val="solid"/>
          </a:ln>
        </p:spPr>
        <p:txBody>
          <a:bodyPr/>
          <a:lstStyle/>
          <a:p>
            <a:endParaRPr lang="en-US"/>
          </a:p>
        </p:txBody>
      </p:sp>
      <p:sp>
        <p:nvSpPr>
          <p:cNvPr id="8" name="Text 6"/>
          <p:cNvSpPr/>
          <p:nvPr/>
        </p:nvSpPr>
        <p:spPr>
          <a:xfrm>
            <a:off x="502920" y="2377440"/>
            <a:ext cx="548640"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9" name="Text 7"/>
          <p:cNvSpPr/>
          <p:nvPr/>
        </p:nvSpPr>
        <p:spPr>
          <a:xfrm>
            <a:off x="1097280" y="2350008"/>
            <a:ext cx="713232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What OpenEvolve Found</a:t>
            </a:r>
            <a:endParaRPr lang="en-US" sz="1500" dirty="0"/>
          </a:p>
        </p:txBody>
      </p:sp>
      <p:sp>
        <p:nvSpPr>
          <p:cNvPr id="10" name="Text 8"/>
          <p:cNvSpPr/>
          <p:nvPr/>
        </p:nvSpPr>
        <p:spPr>
          <a:xfrm>
            <a:off x="1097280" y="2743200"/>
            <a:ext cx="7315200" cy="6858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Capability-based DNA descriptions outperform numeric weights. Simpler taxonomies (6 types, 12 cases) outperform over-specified ones. The LLM began meta-reasoning about evolution history. Best results came from worst parents. Cold-start via item quality verdict is effective.</a:t>
            </a:r>
            <a:endParaRPr lang="en-US" sz="1200" dirty="0"/>
          </a:p>
        </p:txBody>
      </p:sp>
      <p:sp>
        <p:nvSpPr>
          <p:cNvPr id="11" name="Shape 9"/>
          <p:cNvSpPr/>
          <p:nvPr/>
        </p:nvSpPr>
        <p:spPr>
          <a:xfrm>
            <a:off x="365760" y="3639312"/>
            <a:ext cx="8412480" cy="1207008"/>
          </a:xfrm>
          <a:prstGeom prst="roundRect">
            <a:avLst>
              <a:gd name="adj" fmla="val 9091"/>
            </a:avLst>
          </a:prstGeom>
          <a:solidFill>
            <a:srgbClr val="3D1A5E"/>
          </a:solidFill>
          <a:ln w="12700">
            <a:solidFill>
              <a:srgbClr val="A78BFA"/>
            </a:solidFill>
            <a:prstDash val="solid"/>
          </a:ln>
        </p:spPr>
        <p:txBody>
          <a:bodyPr/>
          <a:lstStyle/>
          <a:p>
            <a:endParaRPr lang="en-US"/>
          </a:p>
        </p:txBody>
      </p:sp>
      <p:sp>
        <p:nvSpPr>
          <p:cNvPr id="12" name="Text 10"/>
          <p:cNvSpPr/>
          <p:nvPr/>
        </p:nvSpPr>
        <p:spPr>
          <a:xfrm>
            <a:off x="502920" y="3703320"/>
            <a:ext cx="548640" cy="457200"/>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3" name="Text 11"/>
          <p:cNvSpPr/>
          <p:nvPr/>
        </p:nvSpPr>
        <p:spPr>
          <a:xfrm>
            <a:off x="1097280" y="3675888"/>
            <a:ext cx="713232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Why This Matters</a:t>
            </a:r>
            <a:endParaRPr lang="en-US" sz="1500" dirty="0"/>
          </a:p>
        </p:txBody>
      </p:sp>
      <p:sp>
        <p:nvSpPr>
          <p:cNvPr id="14" name="Text 12"/>
          <p:cNvSpPr/>
          <p:nvPr/>
        </p:nvSpPr>
        <p:spPr>
          <a:xfrm>
            <a:off x="1097280" y="4069080"/>
            <a:ext cx="7315200" cy="68580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We applied the FunSearch paradigm to agent policy design: instead of human-tuned prompts, we gave OpenEvolve a structured search space (the taxonomy) and let it discover better behavioral theories automatically. This produced both higher performance AND interpretable findings.</a:t>
            </a:r>
            <a:endParaRPr lang="en-US" sz="1200" dirty="0"/>
          </a:p>
        </p:txBody>
      </p:sp>
      <p:sp>
        <p:nvSpPr>
          <p:cNvPr id="15" name="Shape 13"/>
          <p:cNvSpPr/>
          <p:nvPr/>
        </p:nvSpPr>
        <p:spPr>
          <a:xfrm>
            <a:off x="365760" y="4892040"/>
            <a:ext cx="8412480" cy="256032"/>
          </a:xfrm>
          <a:prstGeom prst="roundRect">
            <a:avLst>
              <a:gd name="adj" fmla="val 21429"/>
            </a:avLst>
          </a:prstGeom>
          <a:solidFill>
            <a:srgbClr val="0D1B5E"/>
          </a:solidFill>
          <a:ln w="12700">
            <a:solidFill>
              <a:srgbClr val="0EA5E9"/>
            </a:solidFill>
            <a:prstDash val="solid"/>
          </a:ln>
        </p:spPr>
        <p:txBody>
          <a:bodyPr/>
          <a:lstStyle/>
          <a:p>
            <a:endParaRPr lang="en-US"/>
          </a:p>
        </p:txBody>
      </p:sp>
      <p:sp>
        <p:nvSpPr>
          <p:cNvPr id="16" name="Text 14"/>
          <p:cNvSpPr/>
          <p:nvPr/>
        </p:nvSpPr>
        <p:spPr>
          <a:xfrm>
            <a:off x="548640" y="4892040"/>
            <a:ext cx="8046720" cy="256032"/>
          </a:xfrm>
          <a:prstGeom prst="rect">
            <a:avLst/>
          </a:prstGeom>
          <a:noFill/>
          <a:ln/>
        </p:spPr>
        <p:txBody>
          <a:bodyPr wrap="square" rtlCol="0" anchor="ctr"/>
          <a:lstStyle/>
          <a:p>
            <a:pPr marL="0" indent="0" algn="ctr">
              <a:buNone/>
            </a:pPr>
            <a:r>
              <a:rPr lang="en-US" sz="1200" b="1" dirty="0">
                <a:solidFill>
                  <a:srgbClr val="0EA5E9"/>
                </a:solidFill>
                <a:latin typeface="Calibri" pitchFamily="34" charset="0"/>
                <a:ea typeface="Calibri" pitchFamily="34" charset="-122"/>
                <a:cs typeface="Calibri" pitchFamily="34" charset="-120"/>
              </a:rPr>
              <a:t>Final Score: combined_score = 0.9128  |  Gen 0 Baseline: 0.8614  |  Improvement: +5.14%  |  50 iterations  •  47 programs  •  3 islands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1220</TotalTime>
  <Words>3918</Words>
  <Application>Microsoft Office PowerPoint</Application>
  <PresentationFormat>On-screen Show (16:9)</PresentationFormat>
  <Paragraphs>347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DNA: Evolving a Dual-Axis Behavioral Taxonomy</dc:title>
  <dc:subject>PptxGenJS Presentation</dc:subject>
  <dc:creator>PptxGenJS</dc:creator>
  <cp:lastModifiedBy>SARA ALI MAHMOUD ABU ROMOH</cp:lastModifiedBy>
  <cp:revision>2</cp:revision>
  <dcterms:created xsi:type="dcterms:W3CDTF">2026-06-14T13:40:49Z</dcterms:created>
  <dcterms:modified xsi:type="dcterms:W3CDTF">2026-06-15T10:02:32Z</dcterms:modified>
</cp:coreProperties>
</file>