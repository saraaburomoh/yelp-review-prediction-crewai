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combined_score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A61-4B29-942A-347299BC5599}"/>
              </c:ext>
            </c:extLst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61-4B29-942A-347299BC5599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A61-4B29-942A-347299BC5599}"/>
              </c:ext>
            </c:extLst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A61-4B29-942A-347299BC5599}"/>
              </c:ext>
            </c:extLst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A61-4B29-942A-347299BC5599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A61-4B29-942A-347299BC5599}"/>
              </c:ext>
            </c:extLst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A61-4B29-942A-347299BC559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Gen0
Seed</c:v>
                </c:pt>
                <c:pt idx="1">
                  <c:v>Gen1
Peak</c:v>
                </c:pt>
                <c:pt idx="2">
                  <c:v>Gen3
Worst</c:v>
                </c:pt>
                <c:pt idx="3">
                  <c:v>Gen4
BEST</c:v>
                </c:pt>
                <c:pt idx="4">
                  <c:v>Isl 0
Best</c:v>
                </c:pt>
                <c:pt idx="5">
                  <c:v>Isl 1
Best</c:v>
                </c:pt>
                <c:pt idx="6">
                  <c:v>Failures
×6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0.86140000000000005</c:v>
                </c:pt>
                <c:pt idx="1">
                  <c:v>0.8931</c:v>
                </c:pt>
                <c:pt idx="2">
                  <c:v>0.8327</c:v>
                </c:pt>
                <c:pt idx="3">
                  <c:v>0.91279999999999994</c:v>
                </c:pt>
                <c:pt idx="4">
                  <c:v>0.89880000000000004</c:v>
                </c:pt>
                <c:pt idx="5">
                  <c:v>0.89880000000000004</c:v>
                </c:pt>
                <c:pt idx="6">
                  <c:v>0.27629999999999999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A61-4B29-942A-347299BC55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04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11604451-colorful-thank-you-in-cartoon-style-funny-boxes-full-of-gratitude-cute-funny-faces-cool-lettering-greeting-card-for-banner-card-web-vector-illustration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DNA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02920" y="15361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a Dual-Axis Behavioral Taxonomy for Yelp Review Simulation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34747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APP Final Project  |  NDHU Spring 2026 | Sara &amp; Vanshika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10896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16382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511296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0.9128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01568" y="310896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01568" y="316382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3511296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+5.14%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0216" y="310896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0216" y="316382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Iterations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0216" y="3511296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Programs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595360" y="320040"/>
            <a:ext cx="274320" cy="2743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79408" y="978408"/>
            <a:ext cx="274320" cy="27432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95360" y="1636776"/>
            <a:ext cx="274320" cy="2743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79408" y="2295144"/>
            <a:ext cx="274320" cy="2743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95360" y="2953512"/>
            <a:ext cx="274320" cy="2743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979408" y="3611880"/>
            <a:ext cx="274320" cy="27432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Why Generic Prediction Fails (Task 1)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81381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Given a Yelp user ID and a business ID — predict the exact star rating (1.0–5★) and generate a realistic review text.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389888"/>
            <a:ext cx="2724912" cy="2176272"/>
          </a:xfrm>
          <a:prstGeom prst="roundRect">
            <a:avLst>
              <a:gd name="adj" fmla="val 5042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46304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 (no DB record!)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828800"/>
            <a:ext cx="2724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75488" y="2487168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profile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review history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82696" y="1389888"/>
            <a:ext cx="2724912" cy="2176272"/>
          </a:xfrm>
          <a:prstGeom prst="roundRect">
            <a:avLst>
              <a:gd name="adj" fmla="val 5042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74136" y="146304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BUSINESS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82696" y="1828800"/>
            <a:ext cx="2724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★ = 4.0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74136" y="2487168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Anthony's Coal Fired Pizza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Tampa, FL — well-loved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1389888"/>
            <a:ext cx="2724912" cy="2176272"/>
          </a:xfrm>
          <a:prstGeom prst="roundRect">
            <a:avLst>
              <a:gd name="adj" fmla="val 504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2784" y="146304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NAIVE PREDICTION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1344" y="1828800"/>
            <a:ext cx="2724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72784" y="2487168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business avg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is WRONG!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3675888"/>
            <a:ext cx="8375904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694176"/>
            <a:ext cx="8010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GROUND TRUTH: 5★  — Military user stationed in Tampa, craved authentic Italian pizza after 3 years in Italy → loved Anthony's Coal Fired.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4048" y="4343400"/>
            <a:ext cx="8375904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4361688"/>
            <a:ext cx="8010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Challenge: averages miss behavioral nuance. We need to understand WHY a specific user rates a specific place — not just what the averages say.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Goal: Make AI Reason Like a Human Reviewer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778356"/>
            <a:ext cx="2011680" cy="3977640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78992" y="884664"/>
            <a:ext cx="530352" cy="530352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8992" y="884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7472" y="15064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38912" y="2119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" y="2559132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user profile, review history, business data, and web context from the Yelp database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21992" y="211910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14600" y="778356"/>
            <a:ext cx="2011680" cy="3977640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884664"/>
            <a:ext cx="530352" cy="530352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884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14600" y="15064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06040" y="2119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2559132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USER behavioral archetype with a Review DNA profile + a BUSINESS quality category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0" y="211910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81728" y="778356"/>
            <a:ext cx="2011680" cy="3977640"/>
          </a:xfrm>
          <a:prstGeom prst="roundRect">
            <a:avLst>
              <a:gd name="adj" fmla="val 5455"/>
            </a:avLst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13248" y="884664"/>
            <a:ext cx="530352" cy="53035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13248" y="884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81728" y="15064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73168" y="2119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73168" y="2559132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case-based rules: USER × BUSINESS archetypes → calibrated star prediction and review text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56248" y="211910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48856" y="778356"/>
            <a:ext cx="2011680" cy="3977640"/>
          </a:xfrm>
          <a:prstGeom prst="roundRect">
            <a:avLst>
              <a:gd name="adj" fmla="val 5455"/>
            </a:avLst>
          </a:prstGeom>
          <a:solidFill>
            <a:srgbClr val="FDF4FF"/>
          </a:solidFill>
          <a:ln w="12700">
            <a:solidFill>
              <a:srgbClr val="C4B5F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80376" y="884664"/>
            <a:ext cx="530352" cy="530352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80376" y="884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48856" y="15064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40296" y="2119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Evolve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0296" y="2559132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OpenEvolve (50 iterations, 3 islands) to automatically discover the best version of that policy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7472" y="4846320"/>
            <a:ext cx="8449056" cy="256032"/>
          </a:xfrm>
          <a:prstGeom prst="roundRect">
            <a:avLst>
              <a:gd name="adj" fmla="val 21429"/>
            </a:avLst>
          </a:prstGeom>
          <a:solidFill>
            <a:srgbClr val="FDF4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85546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 &amp; 3 are our core innovation: a structured taxonomy encoded inside agent backstories, with Step 4 automatically improving it via OpenEvolve.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OpenEvolve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2D3E9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813816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LLM Search: Search the space of programs/policies using an LLM as mutator and an automated evaluator as judge — instead of tuning parameters, search for better algorithms.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651760" y="1463040"/>
            <a:ext cx="3840480" cy="685800"/>
          </a:xfrm>
          <a:prstGeom prst="roundRect">
            <a:avLst>
              <a:gd name="adj" fmla="val 10667"/>
            </a:avLst>
          </a:prstGeom>
          <a:solidFill>
            <a:srgbClr val="0D1B5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651760" y="1463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* = argmax  S(f)  over all  f ∈ F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67712"/>
          <a:ext cx="8321040" cy="235915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Evolutionary 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Our Project (OpenEvolve)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program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taxonomy inside agent backstory (archetypes + rules)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space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possible taxonomy configurations OpenEvolve can generate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 S(f)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score = (preference_estimation + review_generation) /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mutator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minimax-m2.7 via NVIDIA API — rewrites EVOLVE-BLOCK each iteration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Evolutionary 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MAP-Elites: 3 islands × 50 iterations → 47 evaluated programs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3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681728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0D1B5E"/>
          </a:solidFill>
          <a:ln w="12700">
            <a:solidFill>
              <a:srgbClr val="2D3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46908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Our contribution: We went beyond basic prompt tuning. We used OpenEvolve to discover structured Prompt Engineering and Behavioral Psychology rules.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5-Agent CrewAI Crew: Who Does What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3657600" cy="39776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Protected from Evolution (tool-using)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user_analyst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Interaction Tool (DB)  |  → User profile + review history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231136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item_analyst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578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Interaction Tool (DB)  |  → Business data + customer reviews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163824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web_researcher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11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Serper Search API  |  → External news &amp; context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0965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evolved → tool calls could break!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59352" y="2148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62272" y="804672"/>
            <a:ext cx="4315968" cy="3977640"/>
          </a:xfrm>
          <a:prstGeom prst="roundRect">
            <a:avLst>
              <a:gd name="adj" fmla="val 2759"/>
            </a:avLst>
          </a:prstGeom>
          <a:solidFill>
            <a:srgbClr val="FDF4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850392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EVOLVE-BLOCK (OpenEvolve rewrites these)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298448"/>
            <a:ext cx="400507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37160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persona_classifier  (no tools)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737360"/>
            <a:ext cx="37307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user → USER ARCHETYPE + Review DNA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business → ITEM ARCHETYPE + Quality Verdict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dual-axis classification for prediction_modeler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17720" y="274320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passes classification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090672"/>
            <a:ext cx="400507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3163824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prediction_modeler  (no tools)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529584"/>
            <a:ext cx="37307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case-based rules + cognitive bias calibration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6-step prediction heuristic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{"stars": X.X, "review": "..."}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Innovation: Review DNA + Dual-Axis Taxonomy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040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gave OpenEvolve a structured symbolic policy to evolve — not just free-form text.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160520" cy="3767328"/>
          </a:xfrm>
          <a:prstGeom prst="roundRect">
            <a:avLst>
              <a:gd name="adj" fmla="val 291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🧬  Review DNA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behavioral fingerprint — NOT just an average star rating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274545"/>
              </p:ext>
            </p:extLst>
          </p:nvPr>
        </p:nvGraphicFramePr>
        <p:xfrm>
          <a:off x="384048" y="1965960"/>
          <a:ext cx="3931920" cy="285022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Captures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rating_bias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from avg (+0.55 = generous rater)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complaint_triggers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Topics that historically drop this user's 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writing_style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Tone, length, vocabulary signature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negative_review_risk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LOW/MED/HIGH for THIS specific business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recency_weight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most recent visit dominate? (0.9=yes)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sentiment_velocity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user becoming more/less generous over time?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6E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17720" y="1078992"/>
            <a:ext cx="4160520" cy="3767328"/>
          </a:xfrm>
          <a:prstGeom prst="roundRect">
            <a:avLst>
              <a:gd name="adj" fmla="val 291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00600" y="11430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Dual-Axis Classification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00600" y="15544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USER + BUSINESS separately, then combine via case rules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96596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AXIS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28032" y="2331720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HARSH_CRITIC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GENEROUS_RATER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BALANCED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ELITE_CONNOISSEUR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evolved types ✨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38544" y="23774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7114032" y="196596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14032" y="2011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AXIS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87184" y="2331720"/>
            <a:ext cx="14081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CONSISTENT_FAV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POLARIZING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DECLINING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evolved types ✨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754880" y="352958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case-based rules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3840480"/>
            <a:ext cx="3913632" cy="804672"/>
          </a:xfrm>
          <a:prstGeom prst="roundRect">
            <a:avLst>
              <a:gd name="adj" fmla="val 9091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28032" y="3858768"/>
            <a:ext cx="3767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PREDICTION RULES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HARSH_CRITIC × POLARIZING → 2.5–3.5★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TREND_FOLLOWER × CONSISTENT_FAV → boost +0.3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0: The Seed We Started With  (f₀)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589520" y="109728"/>
            <a:ext cx="1234440" cy="621792"/>
          </a:xfrm>
          <a:prstGeom prst="roundRect">
            <a:avLst>
              <a:gd name="adj" fmla="val 14706"/>
            </a:avLst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589520" y="109728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95465d89  |  Gen 0  |  Island 0  |  Hand-designed — this is f₀, the starting point OpenEvolve evolves from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24912" cy="3767328"/>
          </a:xfrm>
          <a:prstGeom prst="roundRect">
            <a:avLst>
              <a:gd name="adj" fmla="val 4027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TYPES  (4)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2450592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TYPE_A: HARSH_CRITIC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92024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stars on any complaint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368296"/>
            <a:ext cx="2450592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41401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TYPE_B: GENEROUS_RATER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688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4–5★, high tolerance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136392"/>
            <a:ext cx="2450592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18211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TYPE_C: BALANCED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345643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across all factors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904488"/>
            <a:ext cx="2450592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39502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TYPE_D: ELITE_CONNOISSEUR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42245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than average standards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27248" y="1097280"/>
            <a:ext cx="2724912" cy="3767328"/>
          </a:xfrm>
          <a:prstGeom prst="roundRect">
            <a:avLst>
              <a:gd name="adj" fmla="val 4027"/>
            </a:avLst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64408" y="116128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ITEM TYPES  (5)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64408" y="1600200"/>
            <a:ext cx="245059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64992" y="1636776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CONSISTENT_FAV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4992" y="1883664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&gt;65% 4–5★, reliable → 4.5–5.0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64408" y="2221992"/>
            <a:ext cx="245059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64992" y="2258568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64992" y="250545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5★ AND high 1–2★ → middle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64408" y="2843784"/>
            <a:ext cx="245059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64992" y="2880360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DECLINING_QUAL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64992" y="312724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reviews lower → adjust down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64408" y="3465576"/>
            <a:ext cx="245059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64992" y="3502152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NICHE_SPECIALIST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64992" y="374904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stars, specific audience subset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64408" y="4087368"/>
            <a:ext cx="245059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64992" y="4123944"/>
            <a:ext cx="22494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AVERAGE_PERFORMER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64992" y="437083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3–4★ range, no strong signal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0176" y="1097280"/>
            <a:ext cx="2852928" cy="3767328"/>
          </a:xfrm>
          <a:prstGeom prst="roundRect">
            <a:avLst>
              <a:gd name="adj" fmla="val 3846"/>
            </a:avLst>
          </a:prstGeom>
          <a:solidFill>
            <a:srgbClr val="FDF4FF"/>
          </a:solidFill>
          <a:ln w="12700">
            <a:solidFill>
              <a:srgbClr val="C4B5F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08192" y="116128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CASES &amp; THRESHOLDS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08192" y="1600200"/>
            <a:ext cx="25968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17920" y="1664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0" y="1938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missing → use item verdict only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08192" y="2404872"/>
            <a:ext cx="25968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1792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17920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→ weight DNA over avg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08192" y="3209544"/>
            <a:ext cx="25968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1792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17920" y="3547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→ anchor to user avg_stars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08192" y="4069080"/>
            <a:ext cx="2596896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99632" y="4096512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&gt;70% ≥4.0★ → 4.5–5.0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&gt;55% ≥3.8★ → 4.0–4.5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40–55% → 3.0–4.0  |  POOR &lt;40%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OpenEvolve Evolved Our Agents (50 Iterations)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8961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Parent YAML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1097280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high-scoring program from the MAP-Elites population database across 3 islands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0" cy="420624"/>
          </a:xfrm>
          <a:prstGeom prst="line">
            <a:avLst/>
          </a:prstGeom>
          <a:noFill/>
          <a:ln w="25400">
            <a:solidFill>
              <a:srgbClr val="2D3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700784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7007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Mutates EVOLVE-BLOCK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190195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minimax-m2.7 rewrites the taxonomy inside the YAML: new archetypes, thresholds, cases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84832"/>
            <a:ext cx="0" cy="420624"/>
          </a:xfrm>
          <a:prstGeom prst="line">
            <a:avLst/>
          </a:prstGeom>
          <a:noFill/>
          <a:ln w="25400">
            <a:solidFill>
              <a:srgbClr val="2D3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505456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5054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Simulation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270662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crew executes with the mutated config. Agents predict star rating + review text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889504"/>
            <a:ext cx="0" cy="420624"/>
          </a:xfrm>
          <a:prstGeom prst="line">
            <a:avLst/>
          </a:prstGeom>
          <a:noFill/>
          <a:ln w="25400">
            <a:solidFill>
              <a:srgbClr val="2D3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3101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Store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" y="351129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combined_score = (pref_estimation + review_gen) / 2 → stored in MAP-Elites database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94176"/>
            <a:ext cx="0" cy="420624"/>
          </a:xfrm>
          <a:prstGeom prst="line">
            <a:avLst/>
          </a:prstGeom>
          <a:noFill/>
          <a:ln w="25400">
            <a:solidFill>
              <a:srgbClr val="2D3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41148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31596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High-scoring programs become parents for next iteration. Best is always tracked.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33088" y="804672"/>
            <a:ext cx="4645152" cy="4224528"/>
          </a:xfrm>
          <a:prstGeom prst="roundRect">
            <a:avLst>
              <a:gd name="adj" fmla="val 2597"/>
            </a:avLst>
          </a:prstGeom>
          <a:solidFill>
            <a:srgbClr val="1A2456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15968" y="868680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OpenEvolve Config (Key Settings)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51960" y="1325880"/>
            <a:ext cx="4389120" cy="329184"/>
          </a:xfrm>
          <a:prstGeom prst="roundRect">
            <a:avLst>
              <a:gd name="adj" fmla="val 16667"/>
            </a:avLst>
          </a:prstGeom>
          <a:solidFill>
            <a:srgbClr val="0D1B5E"/>
          </a:solidFill>
          <a:ln w="12700">
            <a:solidFill>
              <a:srgbClr val="2D3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43400" y="1344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max_iterations: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80760" y="1344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51960" y="1709928"/>
            <a:ext cx="4389120" cy="329184"/>
          </a:xfrm>
          <a:prstGeom prst="roundRect">
            <a:avLst>
              <a:gd name="adj" fmla="val 16667"/>
            </a:avLst>
          </a:prstGeom>
          <a:solidFill>
            <a:srgbClr val="0D1B5E"/>
          </a:solidFill>
          <a:ln w="12700">
            <a:solidFill>
              <a:srgbClr val="2D3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43400" y="1728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diff_based_evolution: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17282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 (full YAML rewrite — avoids YAML corruption)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51960" y="2093976"/>
            <a:ext cx="4389120" cy="329184"/>
          </a:xfrm>
          <a:prstGeom prst="roundRect">
            <a:avLst>
              <a:gd name="adj" fmla="val 16667"/>
            </a:avLst>
          </a:prstGeom>
          <a:solidFill>
            <a:srgbClr val="0D1B5E"/>
          </a:solidFill>
          <a:ln w="12700">
            <a:solidFill>
              <a:srgbClr val="2D3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43400" y="2112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num_islands: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80760" y="2112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(independent lineages, migration every 10 iters)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251960" y="2478024"/>
            <a:ext cx="4389120" cy="329184"/>
          </a:xfrm>
          <a:prstGeom prst="roundRect">
            <a:avLst>
              <a:gd name="adj" fmla="val 16667"/>
            </a:avLst>
          </a:prstGeom>
          <a:solidFill>
            <a:srgbClr val="0D1B5E"/>
          </a:solidFill>
          <a:ln w="12700">
            <a:solidFill>
              <a:srgbClr val="2D3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343400" y="2496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population_size: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80760" y="2496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programs per island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51960" y="2862072"/>
            <a:ext cx="4389120" cy="329184"/>
          </a:xfrm>
          <a:prstGeom prst="roundRect">
            <a:avLst>
              <a:gd name="adj" fmla="val 16667"/>
            </a:avLst>
          </a:prstGeom>
          <a:solidFill>
            <a:srgbClr val="0D1B5E"/>
          </a:solidFill>
          <a:ln w="12700">
            <a:solidFill>
              <a:srgbClr val="2D3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34340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parallel_evaluations: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(serial — avoids 5-RPM rate limit collision)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251960" y="3246120"/>
            <a:ext cx="4389120" cy="329184"/>
          </a:xfrm>
          <a:prstGeom prst="roundRect">
            <a:avLst>
              <a:gd name="adj" fmla="val 16667"/>
            </a:avLst>
          </a:prstGeom>
          <a:solidFill>
            <a:srgbClr val="0D1B5E"/>
          </a:solidFill>
          <a:ln w="12700">
            <a:solidFill>
              <a:srgbClr val="2D3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343400" y="3264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timeout: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080760" y="3264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900s per evaluation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251960" y="3630168"/>
            <a:ext cx="4389120" cy="329184"/>
          </a:xfrm>
          <a:prstGeom prst="roundRect">
            <a:avLst>
              <a:gd name="adj" fmla="val 16667"/>
            </a:avLst>
          </a:prstGeom>
          <a:solidFill>
            <a:srgbClr val="0D1B5E"/>
          </a:solidFill>
          <a:ln w="12700">
            <a:solidFill>
              <a:srgbClr val="2D3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343400" y="3648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mutator: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80760" y="36484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minimaxai/minimax-m2.7 (NVIDIA NIM)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51960" y="4014216"/>
            <a:ext cx="4389120" cy="329184"/>
          </a:xfrm>
          <a:prstGeom prst="roundRect">
            <a:avLst>
              <a:gd name="adj" fmla="val 16667"/>
            </a:avLst>
          </a:prstGeom>
          <a:solidFill>
            <a:srgbClr val="0D1B5E"/>
          </a:solidFill>
          <a:ln w="12700">
            <a:solidFill>
              <a:srgbClr val="2D3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343400" y="4032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080760" y="4032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 (diverse mutations while staying coherent)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251960" y="440740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directs LLM to: invent new archetypes, add DNA variables, adjust thresholds, create new cases, introduce cognitive biases.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Iterations: What Actually Happened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274320" y="804672"/>
          <a:ext cx="5349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074" y="1014984"/>
            <a:ext cx="3090672" cy="30998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274320" y="4352544"/>
            <a:ext cx="1627632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274320" y="438912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274320" y="47000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evaluated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011680" y="4352544"/>
            <a:ext cx="1627632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2011680" y="438912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2011680" y="47000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749040" y="4352544"/>
            <a:ext cx="1627632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749040" y="438912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749040" y="47000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0" y="4352544"/>
            <a:ext cx="1627632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486400" y="438912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486400" y="47000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(0.2763)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223760" y="4352544"/>
            <a:ext cx="1627632" cy="658368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223760" y="438912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+5.14%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7223760" y="47000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Gen 1: Taxonomy Explosion  (+3.7%)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479792" y="109728"/>
            <a:ext cx="1353312" cy="621792"/>
          </a:xfrm>
          <a:prstGeom prst="roundRect">
            <a:avLst>
              <a:gd name="adj" fmla="val 14706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79792" y="109728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0.8931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5953d050  |  Gen 1, Island 0  |  Parent: 95465d89 (Gen 0 seed)  |  First generation — biggest gain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816352" cy="3657600"/>
          </a:xfrm>
          <a:prstGeom prst="roundRect">
            <a:avLst>
              <a:gd name="adj" fmla="val 3896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User Types: 4 → 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737360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TYPE_E  TREND_FOLLOWER — social proof bias, echoes collective consensus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404872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450592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TYPE_F  VALUE_HUNTER — price-to-quality ratio, downrates overpriced places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118104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3163824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TYPE_G  RECENCY_BIASED — recent experience dominates rating (0.6–0.8)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831336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877056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TYPE_H  EMOTIONAL_RATER — single peak moment can override all signals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18688" y="1115568"/>
            <a:ext cx="2816352" cy="3657600"/>
          </a:xfrm>
          <a:prstGeom prst="roundRect">
            <a:avLst>
              <a:gd name="adj" fmla="val 3896"/>
            </a:avLst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55848" y="118872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Item Types: 5 → 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55848" y="1691640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1737360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UNDERPERFORMER — 3.0–3.5★ avg but hidden strengths in attributes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55848" y="2404872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0" y="2450592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INFLATED_HYPE — many reviews at 4–5★ despite recent decline → discount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55848" y="3118104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0" y="3163824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NEW_ARRIVAL — &lt;10 reviews, high uncertainty → conservative prediction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3056" y="1115568"/>
            <a:ext cx="2816352" cy="3657600"/>
          </a:xfrm>
          <a:prstGeom prst="roundRect">
            <a:avLst>
              <a:gd name="adj" fmla="val 3896"/>
            </a:avLst>
          </a:prstGeom>
          <a:solidFill>
            <a:srgbClr val="FDF4FF"/>
          </a:solidFill>
          <a:ln w="12700">
            <a:solidFill>
              <a:srgbClr val="C4B5F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0216" y="118872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Cognitive Bias Layer Added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0216" y="1691640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19088" y="1737360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BANDWAGON: TREND_FOLLOWER + CONSISTENT_FAV → +0.2 to +0.4★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0216" y="2404872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19088" y="2450592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ANCHORING: stable avg_stars → cluster tightly around 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0216" y="3118104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19088" y="3163824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NEGATIVITY_BIAS: HARSH_CRITIC → multiply triggers by 1.5×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0216" y="3831336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19088" y="3877056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PREDICTION HEURISTIC (ordered algorithm, not vague reasoning)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846320"/>
            <a:ext cx="8595360" cy="27432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38912" y="4855464"/>
            <a:ext cx="8266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Converting from implicit reasoning to an explicit 6-step ordered algorithm drove the biggest performance gain.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Gen 2–3: The Complexity Trap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OpenEvolve kept adding more types and cases. Scores did NOT improve. This taught us a critical lesson.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115568"/>
          <a:ext cx="8375904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0 (seed 95465d89)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1 best (5953d050)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0.8931 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2 avg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~0.88 (flat)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 3 WORST (9e97cc6b)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0.8327 ↓↓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47472" y="3063240"/>
            <a:ext cx="4206240" cy="1874520"/>
          </a:xfrm>
          <a:prstGeom prst="roundRect">
            <a:avLst>
              <a:gd name="adj" fmla="val 5854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0352" y="3136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Went Wrong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0352" y="3538728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TYPE_I (NOVICE_REVIEWER)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NEW_ARRIVAL item type were added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O, P, Q, 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rare scenarios never triggered in evaluation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18 rules overloaded the LLM. More rules ≠ better predictions.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36592" y="3063240"/>
            <a:ext cx="4023360" cy="1874520"/>
          </a:xfrm>
          <a:prstGeom prst="roundRect">
            <a:avLst>
              <a:gd name="adj" fmla="val 5854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19472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Lesson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19472" y="3538728"/>
            <a:ext cx="3657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complexity for 1-task evaluation: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user types, ~6 item types, ~12 cases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rules make it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LLM agent to apply them
accurately during prediction.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Occam's Razor, discovered automatically by evolution.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Interesting Discovery: Self-Aware Meta-Reasoning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2D3E9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813816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programs scored 0.2763 (catastrophic failure). All caused by the same pattern: the LLM wrote analysis BEFORE the YAML output.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5074920" cy="2606040"/>
          </a:xfrm>
          <a:prstGeom prst="roundRect">
            <a:avLst>
              <a:gd name="adj" fmla="val 3509"/>
            </a:avLst>
          </a:prstGeom>
          <a:solidFill>
            <a:srgbClr val="0D1B5E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4447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LLM actually output (program 54633490):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4709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the evolution history, I can see a clear pattern:
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program (0.8327) has the MOST complexity but the
LOWEST score. The best performer is actually SIMPLER.
</a:t>
            </a: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observations:
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Adding TYPE_I (NOVICE_REVIEWER) hurt performance
• Extra cases O, P, Q, R introduced overfitting
</a:t>
            </a: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strategy: Simplify back toward the best-performing
architecture...
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=== Phase 1: Agents Integrated ===  ← YAML starts here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4041648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300000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YAML Error: 'while scanning a simple key... could not find expected :'  at line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preference_estimation = 0.0  →  combined_score = 0.2763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23560" y="137160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1A245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79008" y="14447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What This Means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42432" y="193852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16752" y="1901952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correctly read past scores and identified the overfitting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42432" y="246888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6752" y="2432304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correctly concluded simplification was the right strategy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42432" y="299923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16752" y="2962656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output that analysis as prose BEFORE the YAML → parser failed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42432" y="3529584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16752" y="349300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happened 6 times across all 3 islands independently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42432" y="405993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16752" y="402336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meta-reasoning — the evolution became self-aware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 4 Breakthrough: The Best Program  (0.9128)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17685" y="68580"/>
            <a:ext cx="1353312" cy="621792"/>
          </a:xfrm>
          <a:prstGeom prst="roundRect">
            <a:avLst>
              <a:gd name="adj" fmla="val 14706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43343" y="68580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0.9128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2dd64847  |  Gen 4, Island 2  |  Iteration 48  |  Parent score: 0.8327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8503920" cy="280416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 (0.8327 — Complex)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 (0.9128 — Simplified)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archetype types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types (incl. NOVICE, SKEPTICAL, LOYAL)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types (removed 3 worst performers)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archetype types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types (incl. NEW_ARRIVAL)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types (removed 4, added EMERGING_TREND)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cases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cases (A–R)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cases (removed NOVICE/NEW_ARRIVAL cases)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DNA representation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Numeric: rating_bias=-0.45, recency=0.75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Capability: 'trigger sensitivity (1.5× multiplier)'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archetypes invented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TYPE_F: RECENCY_BOOSTER (positivity drift over time)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item type invented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EMERGING_TREND (review surge + improving ratings)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069080"/>
            <a:ext cx="8503920" cy="411480"/>
          </a:xfrm>
          <a:prstGeom prst="roundRect">
            <a:avLst>
              <a:gd name="adj" fmla="val 17778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4087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DNA format discovery: 'complaint_trigger_sensitivity (1.5× multiplier)' is MORE effective than 'rating_bias=-0.45'. LLMs execute capability descriptions better than abstract numbers.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4590288"/>
            <a:ext cx="8503920" cy="411480"/>
          </a:xfrm>
          <a:prstGeom prst="roundRect">
            <a:avLst>
              <a:gd name="adj" fmla="val 17778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46085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The best program came from the WORST parent (0.8327 → 0.9128). MAP-Elites preserved the complex program for diversity — it became the springboard for radical simplification.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3-Island Competition: How Diversity Helped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1480" y="7040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island evolved independently. Every 10 iterations, the best programs were shared between islands (migration).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834640" cy="3950208"/>
          </a:xfrm>
          <a:prstGeom prst="roundRect">
            <a:avLst>
              <a:gd name="adj" fmla="val 387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521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Island 0  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" y="1664208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Programs: 16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2103120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213969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Score: 0.8988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2542032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5786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0.7868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" y="3017520"/>
            <a:ext cx="2505456" cy="228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30723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found: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3337560"/>
            <a:ext cx="25054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PRECISION-CALIBRATED approach (5 user types, 5 item types)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lean — no extra complexity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4224528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the 'PRECISION-CALIBRATED' label and format later adopted by other islands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1078992"/>
            <a:ext cx="2834640" cy="3950208"/>
          </a:xfrm>
          <a:prstGeom prst="roundRect">
            <a:avLst>
              <a:gd name="adj" fmla="val 3871"/>
            </a:avLst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11521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Island 1  🟠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10712" y="1664208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38728" y="170078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Programs: 18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10712" y="2103120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38728" y="213969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Score: 0.8988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10712" y="2542032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38728" y="25786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0.8003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10712" y="3017520"/>
            <a:ext cx="2505456" cy="228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10712" y="30723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found: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10712" y="3337560"/>
            <a:ext cx="25054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RECENCY_CRITIC + SERIAL_LOYALIST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that capture repeat-visit behavior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10712" y="4224528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loyalty and recency dynamics that other islands borrowed during migration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1078992"/>
            <a:ext cx="2834640" cy="3950208"/>
          </a:xfrm>
          <a:prstGeom prst="roundRect">
            <a:avLst>
              <a:gd name="adj" fmla="val 3871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11521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Island 2  🟢  🏆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82512" y="1664208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10528" y="170078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Programs: 13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82512" y="2103120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10528" y="213969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Score: 0.9128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82512" y="2542032"/>
            <a:ext cx="2505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10528" y="25786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0.7705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82512" y="3017520"/>
            <a:ext cx="2505456" cy="2286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82512" y="30723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found: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82512" y="3337560"/>
            <a:ext cx="25054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exploratory lineage (hosted WORST: 0.8327 and BEST: 0.9128)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simplification breakthrough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82512" y="4224528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that simplification from a bad parent can leap to a global best — only possible with MAP-Elites diversity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Key Things OpenEvolve Discovered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868680"/>
            <a:ext cx="2834640" cy="2057400"/>
          </a:xfrm>
          <a:prstGeom prst="roundRect">
            <a:avLst>
              <a:gd name="adj" fmla="val 5333"/>
            </a:avLst>
          </a:prstGeom>
          <a:solidFill>
            <a:srgbClr val="1A2456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12064" y="996696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2064" y="996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960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Capability Descriptions Beat Numbers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453896"/>
            <a:ext cx="24688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'complaint_trigger_sensitivity (1.5× multiplier)' outperforms 'rating_bias=-0.45'. LLM agents execute natural-language instructions more accurately than abstract values.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55264" y="868680"/>
            <a:ext cx="2834640" cy="2057400"/>
          </a:xfrm>
          <a:prstGeom prst="roundRect">
            <a:avLst>
              <a:gd name="adj" fmla="val 5333"/>
            </a:avLst>
          </a:prstGeom>
          <a:solidFill>
            <a:srgbClr val="1A2456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19856" y="996696"/>
            <a:ext cx="365760" cy="36576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19856" y="996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95344" y="960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Complexity Sweet Spot Exists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38144" y="1453896"/>
            <a:ext cx="24688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= too few blind spots. 11 types = overloaded reasoning. Optimal: ~6 user types, ~6 item types, ~12 cases. Occam's Razor found automatically through iteration.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868680"/>
            <a:ext cx="2834640" cy="2057400"/>
          </a:xfrm>
          <a:prstGeom prst="roundRect">
            <a:avLst>
              <a:gd name="adj" fmla="val 5333"/>
            </a:avLst>
          </a:prstGeom>
          <a:solidFill>
            <a:srgbClr val="1A245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27648" y="996696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7648" y="996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03136" y="9601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LLMs Reason About Their Own Evolution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45936" y="1453896"/>
            <a:ext cx="24688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programs failed (0.2763) because the LLM wrote correct historical analysis (simplify!) before the YAML, breaking the parser. The strategy was right, the format was wrong.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7472" y="3081528"/>
            <a:ext cx="4251960" cy="2057400"/>
          </a:xfrm>
          <a:prstGeom prst="roundRect">
            <a:avLst>
              <a:gd name="adj" fmla="val 5333"/>
            </a:avLst>
          </a:prstGeom>
          <a:solidFill>
            <a:srgbClr val="1A2456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2064" y="3209544"/>
            <a:ext cx="365760" cy="3657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2064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1729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Best Came from Worst Parent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0352" y="3666744"/>
            <a:ext cx="3886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2dd64847 (0.9128) descended from 9e97cc6b (0.8327 — most complex, worst score). MAP-Elites preserved it for diversity, enabling the simplification breakthrough.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82312" y="3081528"/>
            <a:ext cx="4251960" cy="2057400"/>
          </a:xfrm>
          <a:prstGeom prst="roundRect">
            <a:avLst>
              <a:gd name="adj" fmla="val 5333"/>
            </a:avLst>
          </a:prstGeom>
          <a:solidFill>
            <a:srgbClr val="1A2456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46904" y="3209544"/>
            <a:ext cx="365760" cy="36576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46904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22392" y="31729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Cold-Start via Item Signal Works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65192" y="3666744"/>
            <a:ext cx="3886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user data → system relied entirely on EXCELLENT item verdict (79.9% positive) → predicted 4.5★. Ground truth: 5★. Error = only 0.5 stars. Cold-start handled gracefully.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2697480" cy="1298448"/>
          </a:xfrm>
          <a:prstGeom prst="roundRect">
            <a:avLst>
              <a:gd name="adj" fmla="val 8451"/>
            </a:avLst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preference_estimation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21615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7647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accuracy (error = 0.5★)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4408" y="841248"/>
            <a:ext cx="2697480" cy="1298448"/>
          </a:xfrm>
          <a:prstGeom prst="roundRect">
            <a:avLst>
              <a:gd name="adj" fmla="val 8451"/>
            </a:avLst>
          </a:prstGeom>
          <a:solidFill>
            <a:srgbClr val="059669">
              <a:alpha val="18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64408" y="8961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review_generation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64408" y="121615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0.9256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64408" y="17647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text quality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63056" y="841248"/>
            <a:ext cx="2697480" cy="1298448"/>
          </a:xfrm>
          <a:prstGeom prst="roundRect">
            <a:avLst>
              <a:gd name="adj" fmla="val 8451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63056" y="8961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combined_score (FINAL)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63056" y="121615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0.9128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63056" y="17647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+5.14% vs Gen 0 baseline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267712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2D3E9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We Built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2304288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5-agent CrewAI crew with an evolvable Dual-Axis Taxonomy. OpenEvolve searched 47 program configurations across 3 islands to find the optimal behavioral policy.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1A4D3E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2644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OpenEvolve Found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3236976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Capability-based DNA &gt; numbers. Simpler taxonomies outperform complex ones. LLMs meta-reason about their own evolution. Best comes from worst parents via MAP-Elites diversity.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33088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3D1A5E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41970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This Matters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4169664"/>
            <a:ext cx="5349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FunSearch paradigm to agent policy design. Instead of human-tuned prompts, the AI discovered better behavioral theories automatically — producing higher performance AND interpretable findings.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5102352"/>
            <a:ext cx="8412480" cy="0"/>
          </a:xfrm>
          <a:prstGeom prst="round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9194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2dd64847  |  Gen 4 / Island 2 / Iteration 48  |  50 iterations  •  47 programs  •  3 islands  |  Final Score: 0.9128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BDB16A-667F-2A16-EB06-310E957BF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4659" b="1910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50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54</TotalTime>
  <Words>2589</Words>
  <Application>Microsoft Office PowerPoint</Application>
  <PresentationFormat>On-screen Show (16:9)</PresentationFormat>
  <Paragraphs>365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SARA ALI MAHMOUD ABU ROMOH</cp:lastModifiedBy>
  <cp:revision>14</cp:revision>
  <dcterms:created xsi:type="dcterms:W3CDTF">2026-06-15T11:39:57Z</dcterms:created>
  <dcterms:modified xsi:type="dcterms:W3CDTF">2026-06-16T04:18:32Z</dcterms:modified>
</cp:coreProperties>
</file>